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67" r:id="rId3"/>
    <p:sldId id="266" r:id="rId4"/>
    <p:sldId id="257" r:id="rId5"/>
    <p:sldId id="268" r:id="rId6"/>
    <p:sldId id="269" r:id="rId7"/>
    <p:sldId id="261" r:id="rId8"/>
    <p:sldId id="262" r:id="rId9"/>
    <p:sldId id="260" r:id="rId10"/>
    <p:sldId id="263" r:id="rId11"/>
    <p:sldId id="26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F1EF5-0690-4D75-B6B2-750FDF3C791E}" type="datetimeFigureOut">
              <a:rPr lang="en-US" smtClean="0"/>
              <a:t>12/6/2017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18BDE-5DFF-4475-A03F-13587FAB7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6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5DDC-ED02-4A60-A30D-30849A818F9E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54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2FE0-B649-4038-BCFA-AD3EAA195BDC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8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7BC4-1A3C-465E-9985-FF1EF14B8336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BFD59-37EF-4417-AB08-FC9854D0A378}" type="datetime1">
              <a:rPr lang="en-US" smtClean="0"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3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AF299-BFA6-430F-B501-88557D8597DF}" type="datetime1">
              <a:rPr lang="en-US" smtClean="0"/>
              <a:t>12/6/2017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5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47AB-2E7E-4C6E-8D13-2ACAD1417B23}" type="datetime1">
              <a:rPr lang="en-US" smtClean="0"/>
              <a:t>12/6/2017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3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455EA-5DE6-4A89-A32F-CB01B2A64698}" type="datetime1">
              <a:rPr lang="en-US" smtClean="0"/>
              <a:t>12/6/2017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15A3-8EC0-4F53-BFC9-1A336A4BF897}" type="datetime1">
              <a:rPr lang="en-US" smtClean="0"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DE83-49AA-4705-8D1F-100C93CE1851}" type="datetime1">
              <a:rPr lang="en-US" smtClean="0"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D95A-2DFA-41E3-AAAB-1925E2C62069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8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4C2B-3481-4CC0-9FE9-F676E23FD263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1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FE1B8-E13C-46C1-B3CD-96A4082F9298}" type="datetime1">
              <a:rPr lang="en-US" smtClean="0"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0600-6EB3-4A81-9419-3033D266A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19E613-A302-4081-97C3-72B0FBB47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87" y="1095859"/>
            <a:ext cx="12046226" cy="2387600"/>
          </a:xfrm>
        </p:spPr>
        <p:txBody>
          <a:bodyPr>
            <a:normAutofit/>
          </a:bodyPr>
          <a:lstStyle/>
          <a:p>
            <a:r>
              <a:rPr lang="en-US" dirty="0"/>
              <a:t>Coordinate Detector Commissioning:</a:t>
            </a:r>
            <a:br>
              <a:rPr lang="en-US" dirty="0"/>
            </a:br>
            <a:r>
              <a:rPr lang="en-US" sz="4800" dirty="0"/>
              <a:t>Study of Crosstalk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82DA7AC-6493-4C0D-85F4-4D4E1476E0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Ralph Marinaro</a:t>
            </a:r>
          </a:p>
          <a:p>
            <a:r>
              <a:rPr lang="en-US" dirty="0"/>
              <a:t>Christopher Newport University</a:t>
            </a:r>
          </a:p>
          <a:p>
            <a:r>
              <a:rPr lang="en-US" dirty="0"/>
              <a:t>December 6,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CBBC068-C9AD-45EC-B520-0C5F7913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1/12</a:t>
            </a:r>
          </a:p>
        </p:txBody>
      </p:sp>
    </p:spTree>
    <p:extLst>
      <p:ext uri="{BB962C8B-B14F-4D97-AF65-F5344CB8AC3E}">
        <p14:creationId xmlns:p14="http://schemas.microsoft.com/office/powerpoint/2010/main" val="404292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A8D482-A3B5-436F-8550-60B4FE9C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How do we perform commissioning?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694626-0735-417A-9F43-49496417E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99"/>
            <a:ext cx="10515600" cy="4923099"/>
          </a:xfrm>
        </p:spPr>
        <p:txBody>
          <a:bodyPr>
            <a:normAutofit fontScale="85000" lnSpcReduction="20000"/>
          </a:bodyPr>
          <a:lstStyle/>
          <a:p>
            <a:pPr>
              <a:buClr>
                <a:srgbClr val="0070C0"/>
              </a:buClr>
            </a:pPr>
            <a:r>
              <a:rPr lang="en-US" sz="3400" dirty="0"/>
              <a:t>Half module setup, 196 channels, 196 optical fibers, in 14 groups of stacked scintillating bars, 14 PMTs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Channels </a:t>
            </a:r>
            <a:r>
              <a:rPr lang="en-US" sz="2600" dirty="0"/>
              <a:t>are oriented so that thin side of paddles face upwards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Allows </a:t>
            </a:r>
            <a:r>
              <a:rPr lang="en-US" sz="2600" dirty="0"/>
              <a:t>for vertical tracks of cosmic rays to occur in individual channels without interacting with other channels</a:t>
            </a:r>
          </a:p>
          <a:p>
            <a:pPr>
              <a:buClr>
                <a:srgbClr val="0070C0"/>
              </a:buClr>
            </a:pPr>
            <a:endParaRPr lang="en-US" sz="2400" dirty="0"/>
          </a:p>
          <a:p>
            <a:pPr>
              <a:buClr>
                <a:srgbClr val="0070C0"/>
              </a:buClr>
            </a:pPr>
            <a:r>
              <a:rPr lang="en-US" sz="3800" dirty="0"/>
              <a:t>How do we collect data?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Use </a:t>
            </a:r>
            <a:r>
              <a:rPr lang="en-US" sz="2600" dirty="0"/>
              <a:t>coincidence setup with two trigger scintillating paddles above and below detector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Triggers </a:t>
            </a:r>
            <a:r>
              <a:rPr lang="en-US" sz="2600" dirty="0"/>
              <a:t>act as a gate in which ADC data is recorded to increase counting rate</a:t>
            </a:r>
          </a:p>
          <a:p>
            <a:pPr>
              <a:buClr>
                <a:srgbClr val="0070C0"/>
              </a:buClr>
            </a:pPr>
            <a:endParaRPr lang="en-US" sz="2400" dirty="0"/>
          </a:p>
          <a:p>
            <a:pPr>
              <a:buClr>
                <a:srgbClr val="0070C0"/>
              </a:buClr>
            </a:pPr>
            <a:r>
              <a:rPr lang="en-US" sz="3800" dirty="0"/>
              <a:t>How do we observe crosstalk?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Use </a:t>
            </a:r>
            <a:r>
              <a:rPr lang="en-US" sz="2600" dirty="0"/>
              <a:t>multichannel oscilloscope connected to signal output for ADC and TDC</a:t>
            </a:r>
          </a:p>
          <a:p>
            <a:pPr lvl="1">
              <a:buClr>
                <a:srgbClr val="0070C0"/>
              </a:buClr>
            </a:pPr>
            <a:r>
              <a:rPr lang="en-US" sz="2600" dirty="0" smtClean="0"/>
              <a:t>We </a:t>
            </a:r>
            <a:r>
              <a:rPr lang="en-US" sz="2600" dirty="0"/>
              <a:t>can count events to verify analysis by using rough approximation of crosstalk percentages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97B2DF-3E3E-449F-9256-D4917585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2/12</a:t>
            </a:r>
          </a:p>
        </p:txBody>
      </p:sp>
    </p:spTree>
    <p:extLst>
      <p:ext uri="{BB962C8B-B14F-4D97-AF65-F5344CB8AC3E}">
        <p14:creationId xmlns:p14="http://schemas.microsoft.com/office/powerpoint/2010/main" val="102987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07FB31-A891-4DEA-94F0-BA264BD5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85" y="3012072"/>
            <a:ext cx="11507165" cy="1325563"/>
          </a:xfrm>
        </p:spPr>
        <p:txBody>
          <a:bodyPr/>
          <a:lstStyle/>
          <a:p>
            <a:pPr>
              <a:tabLst>
                <a:tab pos="463550" algn="l"/>
              </a:tabLst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uFill>
                  <a:solidFill>
                    <a:srgbClr val="0070C0"/>
                  </a:solidFill>
                </a:uFill>
              </a:rPr>
              <a:t>	</a:t>
            </a:r>
            <a:r>
              <a:rPr lang="en-US" b="1" u="sng" dirty="0" smtClean="0">
                <a:uFill>
                  <a:solidFill>
                    <a:srgbClr val="0070C0"/>
                  </a:solidFill>
                </a:uFill>
              </a:rPr>
              <a:t>What </a:t>
            </a:r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is the concern?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CC553C-554A-4F61-9B34-1D8252AFB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120"/>
            <a:ext cx="10515600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Crosstalk is undesirable artificial correlation between signals in different channels of the detector. This parasitic correlation is caused by undesirable affects which lead to problems in the data.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We want to know which are the real signals and which are not and in which channel a real signal actually occurs.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AF548EAE-D486-4BE7-9178-54D672D40388}"/>
              </a:ext>
            </a:extLst>
          </p:cNvPr>
          <p:cNvSpPr txBox="1">
            <a:spLocks/>
          </p:cNvSpPr>
          <p:nvPr/>
        </p:nvSpPr>
        <p:spPr>
          <a:xfrm>
            <a:off x="838200" y="310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What is crosstalk?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01769DC4-CC94-4738-8236-E28219AF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3/12</a:t>
            </a:r>
          </a:p>
        </p:txBody>
      </p:sp>
    </p:spTree>
    <p:extLst>
      <p:ext uri="{BB962C8B-B14F-4D97-AF65-F5344CB8AC3E}">
        <p14:creationId xmlns:p14="http://schemas.microsoft.com/office/powerpoint/2010/main" val="129615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589EDA39-E3AE-49FC-9721-AC20E3D9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Causes of Crosstalk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E6574F-24A5-4373-ADE8-B0CEFB09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1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Displacement of fibers in relation to PMT, leads to optical leak of photons into incorrect pixels</a:t>
            </a:r>
          </a:p>
          <a:p>
            <a:pPr lvl="2"/>
            <a:endParaRPr lang="en-US" dirty="0"/>
          </a:p>
          <a:p>
            <a:pPr lvl="2">
              <a:buClr>
                <a:srgbClr val="0070C0"/>
              </a:buClr>
            </a:pPr>
            <a:r>
              <a:rPr lang="en-US" sz="2400" dirty="0"/>
              <a:t>Can be corrected by precision alignment which can be done since optical fiber is 2 mm and pixel area is 4x4 mm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Close proximity of fibers to each other, leads to leaking of photons between fibers</a:t>
            </a:r>
          </a:p>
          <a:p>
            <a:pPr lvl="2"/>
            <a:endParaRPr lang="en-US" dirty="0"/>
          </a:p>
          <a:p>
            <a:pPr lvl="2">
              <a:buClr>
                <a:srgbClr val="0070C0"/>
              </a:buClr>
            </a:pPr>
            <a:r>
              <a:rPr lang="en-US" sz="2400" dirty="0"/>
              <a:t>Can be corrected by improving system to include sleeves between fibers to avoid contact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Electrical crosstalk, caused by capacitive coupling in PMT between individual channels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BD1ECBF-952B-4107-8361-1633414B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4/12</a:t>
            </a:r>
          </a:p>
        </p:txBody>
      </p:sp>
    </p:spTree>
    <p:extLst>
      <p:ext uri="{BB962C8B-B14F-4D97-AF65-F5344CB8AC3E}">
        <p14:creationId xmlns:p14="http://schemas.microsoft.com/office/powerpoint/2010/main" val="94356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006CFD-EA28-4455-9C0D-0E78D4E1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Study of Probability of Crosstalk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D5DD9B-4DAE-458E-96BB-E6FC066F1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Utilize ADC data to define unambiguously good event</a:t>
            </a:r>
          </a:p>
          <a:p>
            <a:pPr lvl="1">
              <a:buClr>
                <a:srgbClr val="0070C0"/>
              </a:buClr>
            </a:pPr>
            <a:endParaRPr lang="en-US" dirty="0"/>
          </a:p>
          <a:p>
            <a:pPr lvl="1">
              <a:buClr>
                <a:srgbClr val="0070C0"/>
              </a:buClr>
            </a:pPr>
            <a:r>
              <a:rPr lang="en-US" dirty="0"/>
              <a:t>Good event – high ADC signal in main channel, high TDC signal in main channel, low ADC signal in adjacent channels</a:t>
            </a:r>
          </a:p>
          <a:p>
            <a:pPr lvl="1">
              <a:buClr>
                <a:srgbClr val="0070C0"/>
              </a:buClr>
            </a:pPr>
            <a:endParaRPr lang="en-US" dirty="0"/>
          </a:p>
          <a:p>
            <a:pPr lvl="1">
              <a:buClr>
                <a:srgbClr val="0070C0"/>
              </a:buClr>
            </a:pPr>
            <a:r>
              <a:rPr lang="en-US" dirty="0"/>
              <a:t>Crosstalk event – high ADC signal in main channel, high TDC signal in main channel, low ADC signal in adjacent channels, high TDC signal in any other channel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Used number of crosstalk events over total events to get crosstalk percentages between channels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07A8C85-6C2E-4E22-B6C2-F62DDFAB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5/12</a:t>
            </a:r>
          </a:p>
        </p:txBody>
      </p:sp>
    </p:spTree>
    <p:extLst>
      <p:ext uri="{BB962C8B-B14F-4D97-AF65-F5344CB8AC3E}">
        <p14:creationId xmlns:p14="http://schemas.microsoft.com/office/powerpoint/2010/main" val="52198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4129DA-7A6F-4BFF-9D47-41F4DE62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Results of Study on Probability of Crosstalk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6D9901-1DB4-403D-ABB5-8EC637C2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Probability increases with HV and varies between PMTs and channels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Crosstalk for many channels </a:t>
            </a:r>
            <a:r>
              <a:rPr lang="en-US"/>
              <a:t>are </a:t>
            </a:r>
            <a:r>
              <a:rPr lang="en-US" smtClean="0"/>
              <a:t>high (&gt; 10%) </a:t>
            </a:r>
            <a:r>
              <a:rPr lang="en-US" dirty="0"/>
              <a:t>so needed to investigate further on how to remove significant amounts of crosstalk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 step involves utilizing TDC data to remove crosstalk events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E0839C3-F04F-49BE-B58B-96CE0236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6/12</a:t>
            </a:r>
          </a:p>
        </p:txBody>
      </p:sp>
    </p:spTree>
    <p:extLst>
      <p:ext uri="{BB962C8B-B14F-4D97-AF65-F5344CB8AC3E}">
        <p14:creationId xmlns:p14="http://schemas.microsoft.com/office/powerpoint/2010/main" val="198685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716472-62F7-48B4-ABEE-68A06D3D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Oscilloscope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39CE22-E709-4DDF-B7D2-2C06E8CD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873486" cy="4351338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What does a normal event look like?</a:t>
            </a:r>
          </a:p>
          <a:p>
            <a:pPr lvl="1">
              <a:buClr>
                <a:srgbClr val="0070C0"/>
              </a:buClr>
            </a:pPr>
            <a:r>
              <a:rPr lang="en-US" sz="2800" dirty="0" err="1" smtClean="0"/>
              <a:t>Uni</a:t>
            </a:r>
            <a:r>
              <a:rPr lang="en-US" sz="2800" dirty="0" smtClean="0"/>
              <a:t>-polar </a:t>
            </a:r>
            <a:r>
              <a:rPr lang="en-US" sz="2800" dirty="0"/>
              <a:t>negative ADC signal with corresponding TDC</a:t>
            </a:r>
          </a:p>
          <a:p>
            <a:pPr>
              <a:buClr>
                <a:srgbClr val="0070C0"/>
              </a:buClr>
            </a:pPr>
            <a:r>
              <a:rPr lang="en-US" dirty="0" smtClean="0"/>
              <a:t>What </a:t>
            </a:r>
            <a:r>
              <a:rPr lang="en-US" dirty="0"/>
              <a:t>does a crosstalk event look like?</a:t>
            </a:r>
          </a:p>
          <a:p>
            <a:pPr lvl="1">
              <a:buClr>
                <a:srgbClr val="0070C0"/>
              </a:buClr>
            </a:pPr>
            <a:r>
              <a:rPr lang="en-US" sz="2800" dirty="0" smtClean="0"/>
              <a:t>Bi-polar </a:t>
            </a:r>
            <a:r>
              <a:rPr lang="en-US" sz="2800" dirty="0"/>
              <a:t>ADC signal with corresponding TDC</a:t>
            </a:r>
          </a:p>
          <a:p>
            <a:pPr>
              <a:buClr>
                <a:srgbClr val="0070C0"/>
              </a:buClr>
            </a:pPr>
            <a:r>
              <a:rPr lang="en-US" dirty="0" smtClean="0"/>
              <a:t>Means </a:t>
            </a:r>
            <a:r>
              <a:rPr lang="en-US" dirty="0"/>
              <a:t>we can distinguish crosstalk event by small ADC signal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171011_024927">
            <a:extLst>
              <a:ext uri="{FF2B5EF4-FFF2-40B4-BE49-F238E27FC236}">
                <a16:creationId xmlns="" xmlns:a16="http://schemas.microsoft.com/office/drawing/2014/main" id="{653158C5-1BA7-491F-8277-24125AA2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227" y="1829622"/>
            <a:ext cx="5478049" cy="434734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="" xmlns:a16="http://schemas.microsoft.com/office/drawing/2014/main" id="{D99FD5D3-37CB-4E7D-9CD3-A5E389A60E45}"/>
              </a:ext>
            </a:extLst>
          </p:cNvPr>
          <p:cNvSpPr/>
          <p:nvPr/>
        </p:nvSpPr>
        <p:spPr>
          <a:xfrm>
            <a:off x="6639339" y="4001294"/>
            <a:ext cx="1166192" cy="11396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96DEDE52-689A-4662-B1A7-F6F1FBD3CF7B}"/>
              </a:ext>
            </a:extLst>
          </p:cNvPr>
          <p:cNvCxnSpPr/>
          <p:nvPr/>
        </p:nvCxnSpPr>
        <p:spPr>
          <a:xfrm>
            <a:off x="5936974" y="4572001"/>
            <a:ext cx="70236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BDCF9BBE-F285-4C27-BC1F-4F49BA5C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7/12</a:t>
            </a:r>
          </a:p>
        </p:txBody>
      </p:sp>
    </p:spTree>
    <p:extLst>
      <p:ext uri="{BB962C8B-B14F-4D97-AF65-F5344CB8AC3E}">
        <p14:creationId xmlns:p14="http://schemas.microsoft.com/office/powerpoint/2010/main" val="40523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A6029B-93AF-47CD-B1D8-F19F8A97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Oscilloscope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6412151-292F-49AA-A6A5-E4373FAB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1939" cy="4351338"/>
          </a:xfrm>
        </p:spPr>
        <p:txBody>
          <a:bodyPr/>
          <a:lstStyle/>
          <a:p>
            <a:pPr>
              <a:buClr>
                <a:srgbClr val="0070C0"/>
              </a:buClr>
            </a:pPr>
            <a:r>
              <a:rPr lang="en-US" dirty="0"/>
              <a:t>We can also distinguish crosstalk event based on TDC signal width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Observed many crosstalk events have shorter TDC signal widths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8776CA3-820C-4478-92A5-315FC53B7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965" y="1690688"/>
            <a:ext cx="5453269" cy="438049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="" xmlns:a16="http://schemas.microsoft.com/office/drawing/2014/main" id="{1C2FB517-1C0E-4696-8C05-35DB0F6B75DF}"/>
              </a:ext>
            </a:extLst>
          </p:cNvPr>
          <p:cNvSpPr/>
          <p:nvPr/>
        </p:nvSpPr>
        <p:spPr>
          <a:xfrm>
            <a:off x="7739269" y="2743201"/>
            <a:ext cx="871330" cy="927652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1C266489-3464-463F-8DAD-02DE82C41DAE}"/>
              </a:ext>
            </a:extLst>
          </p:cNvPr>
          <p:cNvCxnSpPr/>
          <p:nvPr/>
        </p:nvCxnSpPr>
        <p:spPr>
          <a:xfrm>
            <a:off x="7036904" y="3207027"/>
            <a:ext cx="70236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4971D191-E5BF-473F-903C-836FF819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8/12</a:t>
            </a:r>
          </a:p>
        </p:txBody>
      </p:sp>
    </p:spTree>
    <p:extLst>
      <p:ext uri="{BB962C8B-B14F-4D97-AF65-F5344CB8AC3E}">
        <p14:creationId xmlns:p14="http://schemas.microsoft.com/office/powerpoint/2010/main" val="71169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49DDD7-C537-4CB1-AE35-70E2C84F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Study of Crosstalk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30568C4-F8D0-414F-AC30-C51A7DDA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Utilize TDC data to define unambiguously good event</a:t>
            </a:r>
          </a:p>
          <a:p>
            <a:pPr lvl="1">
              <a:buClr>
                <a:srgbClr val="0070C0"/>
              </a:buClr>
            </a:pPr>
            <a:endParaRPr lang="en-US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Good event – high TDC signal in main channel, high ADC signal in main channel</a:t>
            </a:r>
          </a:p>
          <a:p>
            <a:pPr lvl="1">
              <a:buClr>
                <a:srgbClr val="0070C0"/>
              </a:buClr>
            </a:pPr>
            <a:endParaRPr lang="en-US" sz="2600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Crosstalk event – high TDC signal in main channel, low ADC signal in main channel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Used number of crosstalk events over total events to get crosstalk percentage for main channel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DC43553-309C-40DC-AEAB-2329BA6F2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9/12</a:t>
            </a:r>
          </a:p>
        </p:txBody>
      </p:sp>
    </p:spTree>
    <p:extLst>
      <p:ext uri="{BB962C8B-B14F-4D97-AF65-F5344CB8AC3E}">
        <p14:creationId xmlns:p14="http://schemas.microsoft.com/office/powerpoint/2010/main" val="61723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02E60A-4E65-470C-BB39-8A52E26F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How do we determine TDC width cut?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CB91BB2-35C4-4044-9B06-E7012F793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52341" cy="4351338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Plot difference between TDC leading edge and TDC trailing edge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Blue – All TDC widths</a:t>
            </a:r>
          </a:p>
          <a:p>
            <a:pPr lvl="1">
              <a:buClr>
                <a:srgbClr val="0070C0"/>
              </a:buClr>
            </a:pPr>
            <a:endParaRPr lang="en-US" sz="2600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Red – TDC widths w/ high ADC Signals (“good events”)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Found large spike at lower TDC widths </a:t>
            </a:r>
            <a:r>
              <a:rPr lang="en-US" dirty="0" smtClean="0"/>
              <a:t>representing </a:t>
            </a:r>
            <a:r>
              <a:rPr lang="en-US" dirty="0"/>
              <a:t>a large portion of crosstalk events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78B40D0-EECD-463C-ADA5-95BA339D1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209" y="1825625"/>
            <a:ext cx="5509591" cy="41613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2F9E4230-5852-45CA-8281-E1F38FEA6B14}"/>
              </a:ext>
            </a:extLst>
          </p:cNvPr>
          <p:cNvCxnSpPr>
            <a:cxnSpLocks/>
          </p:cNvCxnSpPr>
          <p:nvPr/>
        </p:nvCxnSpPr>
        <p:spPr>
          <a:xfrm>
            <a:off x="7845288" y="2266122"/>
            <a:ext cx="0" cy="37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D1F1AC0-9614-43B7-A01E-13CE6472AFDD}"/>
              </a:ext>
            </a:extLst>
          </p:cNvPr>
          <p:cNvSpPr txBox="1"/>
          <p:nvPr/>
        </p:nvSpPr>
        <p:spPr>
          <a:xfrm>
            <a:off x="7549599" y="6002407"/>
            <a:ext cx="59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="" xmlns:a16="http://schemas.microsoft.com/office/drawing/2014/main" id="{EC82602E-6CB7-4DFA-B2D9-15F61D0B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10/12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F2A5859-C686-4A46-94D7-592B0598E5F7}"/>
              </a:ext>
            </a:extLst>
          </p:cNvPr>
          <p:cNvSpPr txBox="1"/>
          <p:nvPr/>
        </p:nvSpPr>
        <p:spPr>
          <a:xfrm>
            <a:off x="7903265" y="5663853"/>
            <a:ext cx="1391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TDC Widths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F8B9FB7-1E0B-4C7B-A471-22204B4B09AC}"/>
              </a:ext>
            </a:extLst>
          </p:cNvPr>
          <p:cNvSpPr txBox="1"/>
          <p:nvPr/>
        </p:nvSpPr>
        <p:spPr>
          <a:xfrm rot="16200000">
            <a:off x="5138843" y="3737043"/>
            <a:ext cx="174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Number of Events</a:t>
            </a:r>
          </a:p>
        </p:txBody>
      </p:sp>
    </p:spTree>
    <p:extLst>
      <p:ext uri="{BB962C8B-B14F-4D97-AF65-F5344CB8AC3E}">
        <p14:creationId xmlns:p14="http://schemas.microsoft.com/office/powerpoint/2010/main" val="107947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331A5E8-A187-4FE5-B983-7C753144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5" y="583096"/>
            <a:ext cx="3552590" cy="5593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Example of Percent Crosstalk Reduction</a:t>
            </a:r>
          </a:p>
          <a:p>
            <a:pPr lvl="1"/>
            <a:endParaRPr lang="en-US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PMT 1, HV = 725V</a:t>
            </a:r>
          </a:p>
          <a:p>
            <a:pPr lvl="1">
              <a:buClr>
                <a:srgbClr val="0070C0"/>
              </a:buClr>
            </a:pPr>
            <a:endParaRPr lang="en-US" sz="2600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Results show large reduction of crosstalk across all channels</a:t>
            </a:r>
          </a:p>
          <a:p>
            <a:pPr lvl="1">
              <a:buClr>
                <a:srgbClr val="0070C0"/>
              </a:buClr>
            </a:pPr>
            <a:endParaRPr lang="en-US" sz="2600" dirty="0"/>
          </a:p>
          <a:p>
            <a:pPr lvl="1">
              <a:buClr>
                <a:srgbClr val="0070C0"/>
              </a:buClr>
            </a:pPr>
            <a:r>
              <a:rPr lang="en-US" sz="2600" dirty="0"/>
              <a:t>T</a:t>
            </a:r>
            <a:r>
              <a:rPr lang="en-US" sz="2600" dirty="0" smtClean="0"/>
              <a:t>his </a:t>
            </a:r>
            <a:r>
              <a:rPr lang="en-US" sz="2600" dirty="0"/>
              <a:t>is not a physical solution, only an analytical solution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E19F47CA-F6B0-4F64-A7FE-1D03E9C15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775485"/>
              </p:ext>
            </p:extLst>
          </p:nvPr>
        </p:nvGraphicFramePr>
        <p:xfrm>
          <a:off x="4359965" y="602493"/>
          <a:ext cx="6689034" cy="5692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72">
                  <a:extLst>
                    <a:ext uri="{9D8B030D-6E8A-4147-A177-3AD203B41FA5}">
                      <a16:colId xmlns="" xmlns:a16="http://schemas.microsoft.com/office/drawing/2014/main" val="3072313553"/>
                    </a:ext>
                  </a:extLst>
                </a:gridCol>
                <a:gridCol w="2489981">
                  <a:extLst>
                    <a:ext uri="{9D8B030D-6E8A-4147-A177-3AD203B41FA5}">
                      <a16:colId xmlns="" xmlns:a16="http://schemas.microsoft.com/office/drawing/2014/main" val="288802781"/>
                    </a:ext>
                  </a:extLst>
                </a:gridCol>
                <a:gridCol w="2566181">
                  <a:extLst>
                    <a:ext uri="{9D8B030D-6E8A-4147-A177-3AD203B41FA5}">
                      <a16:colId xmlns="" xmlns:a16="http://schemas.microsoft.com/office/drawing/2014/main" val="1972275575"/>
                    </a:ext>
                  </a:extLst>
                </a:gridCol>
              </a:tblGrid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Channel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Before TDC Width 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After TDC Width 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25911144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1.66%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68757919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62072518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066692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39947188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6170216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95592998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66998934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2.63%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79634166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44538302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10632823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04815329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19020728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6189550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67535440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93563782"/>
                  </a:ext>
                </a:extLst>
              </a:tr>
              <a:tr h="327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3487380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8336108-97FA-4903-835C-68FE010E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11/12</a:t>
            </a:r>
          </a:p>
        </p:txBody>
      </p:sp>
    </p:spTree>
    <p:extLst>
      <p:ext uri="{BB962C8B-B14F-4D97-AF65-F5344CB8AC3E}">
        <p14:creationId xmlns:p14="http://schemas.microsoft.com/office/powerpoint/2010/main" val="115872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F56D14-9DE7-405D-B88F-7E47CBE6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uFill>
                  <a:solidFill>
                    <a:srgbClr val="0070C0"/>
                  </a:solidFill>
                </a:uFill>
              </a:rPr>
              <a:t>What are we currently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2459F5-8C00-4688-BF5D-70BFC5E84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66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70C0"/>
              </a:buClr>
            </a:pPr>
            <a:r>
              <a:rPr lang="en-US" dirty="0"/>
              <a:t>Continuing with study on every channel in half module setup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Writing up documentation which summarizes the study</a:t>
            </a:r>
          </a:p>
          <a:p>
            <a:pPr>
              <a:buClr>
                <a:srgbClr val="0070C0"/>
              </a:buClr>
            </a:pPr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Plan on final completion of study in January 2018, ready for presentation of results at Winter Collaboration Meeting in February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rgbClr val="0070C0"/>
              </a:buClr>
            </a:pPr>
            <a:r>
              <a:rPr lang="en-US" dirty="0"/>
              <a:t>Further understanding of crosstalk, its negative affect on data, how to identify crosstalk in data, and how to reduce crosstalk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425CD000-DF9F-407E-9C41-676553942153}"/>
              </a:ext>
            </a:extLst>
          </p:cNvPr>
          <p:cNvSpPr txBox="1">
            <a:spLocks/>
          </p:cNvSpPr>
          <p:nvPr/>
        </p:nvSpPr>
        <p:spPr>
          <a:xfrm>
            <a:off x="838200" y="3802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What experience was gained?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351FD27-0A53-4AED-B280-794DBF55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 12.12</a:t>
            </a:r>
          </a:p>
        </p:txBody>
      </p:sp>
    </p:spTree>
    <p:extLst>
      <p:ext uri="{BB962C8B-B14F-4D97-AF65-F5344CB8AC3E}">
        <p14:creationId xmlns:p14="http://schemas.microsoft.com/office/powerpoint/2010/main" val="302277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3055</TotalTime>
  <Words>791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Coordinate Detector Commissioning: Study of Crosstalk</vt:lpstr>
      <vt:lpstr>How do we perform commissioning?</vt:lpstr>
      <vt:lpstr>  What is the concern?</vt:lpstr>
      <vt:lpstr>Causes of Crosstalk</vt:lpstr>
      <vt:lpstr>Study of Probability of Crosstalk</vt:lpstr>
      <vt:lpstr>Results of Study on Probability of Crosstalk</vt:lpstr>
      <vt:lpstr>Oscilloscope Observations</vt:lpstr>
      <vt:lpstr>Oscilloscope Observations</vt:lpstr>
      <vt:lpstr>Study of Crosstalk Reduction</vt:lpstr>
      <vt:lpstr>How do we determine TDC width cut?</vt:lpstr>
      <vt:lpstr>PowerPoint Presentation</vt:lpstr>
      <vt:lpstr>What are we currently doing?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CDet Crosstalk Analysis</dc:title>
  <dc:creator>Ralph Marinaro</dc:creator>
  <cp:lastModifiedBy>Peter Monaghan</cp:lastModifiedBy>
  <cp:revision>33</cp:revision>
  <dcterms:created xsi:type="dcterms:W3CDTF">2017-11-28T19:58:26Z</dcterms:created>
  <dcterms:modified xsi:type="dcterms:W3CDTF">2017-12-06T15:03:59Z</dcterms:modified>
</cp:coreProperties>
</file>