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5" r:id="rId9"/>
    <p:sldId id="262" r:id="rId10"/>
    <p:sldId id="263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766"/>
    <p:restoredTop sz="94670"/>
  </p:normalViewPr>
  <p:slideViewPr>
    <p:cSldViewPr snapToGrid="0">
      <p:cViewPr>
        <p:scale>
          <a:sx n="117" d="100"/>
          <a:sy n="117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C4285-D253-2E4D-91E2-ECC58B06E1A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EB78D-CBA5-3E4A-834B-4AE7E996A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67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Tdc</a:t>
            </a:r>
            <a:r>
              <a:rPr lang="en-US" dirty="0"/>
              <a:t> calibration purposefully incorrect, part of investigation into </a:t>
            </a:r>
            <a:r>
              <a:rPr lang="en-US" dirty="0" err="1"/>
              <a:t>tdc</a:t>
            </a:r>
            <a:r>
              <a:rPr lang="en-US" dirty="0"/>
              <a:t> non-linearity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EB78D-CBA5-3E4A-834B-4AE7E996A6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9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612A-2395-0160-166D-CF22E0CE2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28FAF-5387-6F80-F28C-573BC4502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9AE81-1A32-35D6-1A0C-21FB0E11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F386-2FF5-3043-B7B8-0F6A89888CD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5169E-CF6A-B741-7EC9-27B49262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E0023-0817-3B5F-ACF1-195C954F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66CC7-4F2E-BF41-9657-5D2321F6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98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DF03E-45F5-2387-9654-4B7AFA00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D798F-0C05-9AFC-8B26-A4EA0133F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09FB5-22CE-FA86-128E-9B6CDFD8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F386-2FF5-3043-B7B8-0F6A89888CD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4268B-C6A6-78B8-D96C-2169D2905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9CCDE-DC9F-4381-DB70-0410A5C0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66CC7-4F2E-BF41-9657-5D2321F6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19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F0F4-9193-0C0C-BCE0-6477FE3AD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EDD40-0292-F281-F164-2EA55F59A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084E4-03FD-D456-28DA-67D521BF2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F386-2FF5-3043-B7B8-0F6A89888CD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0AB30-8A75-376E-D84B-22CDED294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D2ADD-E231-5139-AF67-FF067F82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66CC7-4F2E-BF41-9657-5D2321F6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94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1314-B698-8390-F3A5-A60BFC48C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FC6A2-5180-C1AA-ABE7-F4AAE93E5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4B943-2B25-134D-013C-16BB42E45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4F90C-D066-D0BC-1B14-5F2956B4C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F386-2FF5-3043-B7B8-0F6A89888CD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21A64-FAE0-6F42-E11C-AA09F06A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DF908-E6A6-79C0-DDC7-169339A7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66CC7-4F2E-BF41-9657-5D2321F6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20835-1AA9-C32A-DFFC-C787F832C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E2D7A-1B8B-877B-DE3A-F86ED414B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6CA54-5983-D7B9-2B1F-AC84B218D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1E8238-7585-E482-42CE-5EA403AE4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75CB5A-47FF-F9B3-5023-18CF7FA00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77D15-0FBB-81EE-B949-FED3FAC8B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F386-2FF5-3043-B7B8-0F6A89888CD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CBDD43-A5D0-8E3C-4F60-2B51AAB8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416A36-E761-CC05-CA89-07B96AAF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66CC7-4F2E-BF41-9657-5D2321F6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11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5029-67E2-D4C2-A14C-ABE75D652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B58B0-7390-54A4-BB14-D2F5217BB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F386-2FF5-3043-B7B8-0F6A89888CD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81D4B-D53D-92E2-0A54-D8CBD3C9B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3E737-F032-83E4-4454-546E244D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66CC7-4F2E-BF41-9657-5D2321F6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405FC-2ADC-65B2-B735-AADB60A14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F386-2FF5-3043-B7B8-0F6A89888CD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44222-84BC-B794-2B26-90CAF8B8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28A3B-245B-3F93-578A-948C0711B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66CC7-4F2E-BF41-9657-5D2321F6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7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F0C2-0D4A-A564-635A-73DBEACDC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55245-774F-33EA-5866-24F896A90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A74C0-2622-A6B2-174C-6E723CA7F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56843-5995-C6C8-0EE8-F3EAB184D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F386-2FF5-3043-B7B8-0F6A89888CD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E3E2F-96D6-4F32-9894-2AC6CB1ED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1B37D-F2B0-10F5-9D67-BB82910DB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66CC7-4F2E-BF41-9657-5D2321F6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EC37-FA77-2465-0FF5-A4130D2EC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3D907F-9AB6-6AE3-3118-5AF94591D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24A9E-1A5A-79DE-6BFE-F8D137186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FA087-D501-C2D5-A32F-4B3D0C019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F386-2FF5-3043-B7B8-0F6A89888CD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0175C-367D-4586-4801-2067FE95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51E8D-045E-336B-7CC6-55D7DAF9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66CC7-4F2E-BF41-9657-5D2321F6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4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DCE43-73F6-B4C3-01CF-92DB0D3B9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9E8E8-59E1-3C6C-0749-8DA3044F5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38A43-C68A-6626-E7A6-030A71C8F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F386-2FF5-3043-B7B8-0F6A89888CD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81088-5A5C-B56F-F3BC-8E0CFF4E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F66B-51BA-9D94-1914-00EF3252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66CC7-4F2E-BF41-9657-5D2321F6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72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BEBB0B-0746-30F7-07F0-E42D8F55E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31753-3E79-635D-1DA9-ECF98E365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9B496-9D6D-00A2-942B-DB0610C3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F386-2FF5-3043-B7B8-0F6A89888CD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D12B6-47C3-872D-892B-CC1A2958B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279F3-4B4A-A1EB-7950-5F6E1D57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66CC7-4F2E-BF41-9657-5D2321F6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05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40349-BEE9-5106-BA2F-B3817288C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FD04B-E301-A9DB-5361-8AE9D012D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30CA6-CFE9-6650-B967-075A901A2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5F386-2FF5-3043-B7B8-0F6A89888CD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559C6-B854-50B2-839C-F87509C5EB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6B7BB-F63C-BEBD-02F9-D58FD7CE5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66CC7-4F2E-BF41-9657-5D2321F6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0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9683C-F3E8-3821-1073-8CAE052451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Nov 11</a:t>
            </a:r>
            <a:r>
              <a:rPr lang="en-US" baseline="30000" dirty="0"/>
              <a:t>th</a:t>
            </a:r>
            <a:r>
              <a:rPr lang="en-US" dirty="0"/>
              <a:t>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A9B5D-4BDA-E62B-3516-86BE8747CC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CNU Group + Ben Spaude</a:t>
            </a:r>
          </a:p>
        </p:txBody>
      </p:sp>
    </p:spTree>
    <p:extLst>
      <p:ext uri="{BB962C8B-B14F-4D97-AF65-F5344CB8AC3E}">
        <p14:creationId xmlns:p14="http://schemas.microsoft.com/office/powerpoint/2010/main" val="4255436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F7546-45B6-A3BC-E150-D2ADA0AB2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CDet</a:t>
            </a:r>
            <a:r>
              <a:rPr lang="en-US" dirty="0"/>
              <a:t> Timing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81E3DA-D512-1A98-92AF-D06FC965E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Variable definition: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𝑐𝑙𝑜𝑐𝑘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dirty="0"/>
                  <a:t> electronics clock time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h𝑖𝑡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dirty="0"/>
                  <a:t> raw hit time in a channel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𝑡𝑟𝑖𝑔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dirty="0"/>
                  <a:t> raw trigger time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h𝑖𝑡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𝑐h𝑎𝑛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𝑐𝑙𝑜𝑐𝑘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dirty="0"/>
                  <a:t> leading edge time =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𝑐𝑙𝑜𝑐𝑘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𝑙𝑒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dirty="0"/>
                  <a:t> “physics” leading edge time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𝑙𝑒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𝑡𝑟𝑖𝑔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𝑙𝑒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h𝑖𝑡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𝑐𝑙𝑜𝑐𝑘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h𝑖𝑡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𝑐h𝑎𝑛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𝑐𝑙𝑜𝑐𝑘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𝑙𝑒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h𝑖𝑡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𝑐h𝑎𝑛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+48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81E3DA-D512-1A98-92AF-D06FC965E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33E74E3-AECC-1B4E-A17D-C5CE9B1988EB}"/>
              </a:ext>
            </a:extLst>
          </p:cNvPr>
          <p:cNvSpPr/>
          <p:nvPr/>
        </p:nvSpPr>
        <p:spPr>
          <a:xfrm>
            <a:off x="4536830" y="5333062"/>
            <a:ext cx="4712677" cy="515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90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B7985-422F-B8D4-DA53-BAE78A32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Signal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973B633-94EB-CD87-2941-6AB878A5A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15316"/>
            <a:ext cx="5597040" cy="534230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3437F7-F8DB-334F-3C5C-F7FDA58D5589}"/>
              </a:ext>
            </a:extLst>
          </p:cNvPr>
          <p:cNvSpPr txBox="1"/>
          <p:nvPr/>
        </p:nvSpPr>
        <p:spPr>
          <a:xfrm>
            <a:off x="6863917" y="3429000"/>
            <a:ext cx="54080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5811, 10k events, Counts vs ref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187 “extra” hits in ref channel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the peak at 0 in </a:t>
            </a:r>
            <a:r>
              <a:rPr lang="en-US" dirty="0" err="1"/>
              <a:t>ToT</a:t>
            </a:r>
            <a:r>
              <a:rPr lang="en-US" dirty="0"/>
              <a:t> -&gt; ”Double Hits”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smaller secondary peaks (more on this later)</a:t>
            </a:r>
          </a:p>
        </p:txBody>
      </p:sp>
    </p:spTree>
    <p:extLst>
      <p:ext uri="{BB962C8B-B14F-4D97-AF65-F5344CB8AC3E}">
        <p14:creationId xmlns:p14="http://schemas.microsoft.com/office/powerpoint/2010/main" val="1648544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F456B-AB08-2C32-95AC-8575901BC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AE6F3-CD4C-A5C9-B400-FD5E3B6B1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Signal – Log Scaled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995D4-B0FF-F0D8-73BF-4F8418243A8F}"/>
              </a:ext>
            </a:extLst>
          </p:cNvPr>
          <p:cNvSpPr txBox="1"/>
          <p:nvPr/>
        </p:nvSpPr>
        <p:spPr>
          <a:xfrm>
            <a:off x="6863917" y="3429000"/>
            <a:ext cx="54080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5811, 10k events, Counts vs ref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187 “extra” hits in ref channel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the peak at 0 in </a:t>
            </a:r>
            <a:r>
              <a:rPr lang="en-US" dirty="0" err="1"/>
              <a:t>ToT</a:t>
            </a:r>
            <a:r>
              <a:rPr lang="en-US" dirty="0"/>
              <a:t> -&gt; ”Double Hits”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smaller secondary peaks (more on this later)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7F7B83A-25BF-AEB0-2603-E63958F035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111" y="1853495"/>
            <a:ext cx="6763835" cy="4351338"/>
          </a:xfrm>
        </p:spPr>
      </p:pic>
    </p:spTree>
    <p:extLst>
      <p:ext uri="{BB962C8B-B14F-4D97-AF65-F5344CB8AC3E}">
        <p14:creationId xmlns:p14="http://schemas.microsoft.com/office/powerpoint/2010/main" val="2788959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AC6F-C839-F6C1-0BF6-1F989DF6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 Signal Double Hits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FFF41F-E910-E051-F6E6-5EA2365D9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987" t="50830" r="18322" b="17337"/>
          <a:stretch>
            <a:fillRect/>
          </a:stretch>
        </p:blipFill>
        <p:spPr>
          <a:xfrm>
            <a:off x="838199" y="1589649"/>
            <a:ext cx="10518303" cy="287684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4EE7D9-216A-7462-CA91-3BA0C612BAFE}"/>
              </a:ext>
            </a:extLst>
          </p:cNvPr>
          <p:cNvSpPr txBox="1"/>
          <p:nvPr/>
        </p:nvSpPr>
        <p:spPr>
          <a:xfrm>
            <a:off x="239151" y="4784430"/>
            <a:ext cx="1893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Edge = 0 -&gt; LE Hit</a:t>
            </a:r>
          </a:p>
          <a:p>
            <a:r>
              <a:rPr lang="en-US" dirty="0"/>
              <a:t>Edge =1 -&gt; TE Hit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11BF32-8E8B-DE73-AF45-B9BFDE78DCD9}"/>
              </a:ext>
            </a:extLst>
          </p:cNvPr>
          <p:cNvSpPr/>
          <p:nvPr/>
        </p:nvSpPr>
        <p:spPr>
          <a:xfrm>
            <a:off x="6879102" y="1648485"/>
            <a:ext cx="928468" cy="266560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31689-9694-114B-E1D2-79A6B1267CB7}"/>
              </a:ext>
            </a:extLst>
          </p:cNvPr>
          <p:cNvSpPr txBox="1"/>
          <p:nvPr/>
        </p:nvSpPr>
        <p:spPr>
          <a:xfrm>
            <a:off x="3403340" y="4886349"/>
            <a:ext cx="5385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SBSData.cxx</a:t>
            </a:r>
            <a:r>
              <a:rPr lang="en-US" dirty="0"/>
              <a:t> doesn’t handle this as we would like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Had to modify to handle edge cases</a:t>
            </a:r>
          </a:p>
        </p:txBody>
      </p:sp>
    </p:spTree>
    <p:extLst>
      <p:ext uri="{BB962C8B-B14F-4D97-AF65-F5344CB8AC3E}">
        <p14:creationId xmlns:p14="http://schemas.microsoft.com/office/powerpoint/2010/main" val="1322829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AC9A-CF89-6213-3270-7C9A542B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 Signal 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33B2C-6634-AA8E-3C33-A12BCB02A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9814" y="1825625"/>
            <a:ext cx="5503985" cy="4351338"/>
          </a:xfrm>
        </p:spPr>
        <p:txBody>
          <a:bodyPr>
            <a:normAutofit/>
          </a:bodyPr>
          <a:lstStyle/>
          <a:p>
            <a:r>
              <a:rPr lang="en-US" dirty="0"/>
              <a:t>If double trailing edge, two </a:t>
            </a:r>
            <a:r>
              <a:rPr lang="en-US" dirty="0" err="1"/>
              <a:t>te</a:t>
            </a:r>
            <a:r>
              <a:rPr lang="en-US" dirty="0"/>
              <a:t> hits, second one has no associated Tot or Le</a:t>
            </a:r>
          </a:p>
          <a:p>
            <a:r>
              <a:rPr lang="en-US" dirty="0"/>
              <a:t>Double </a:t>
            </a:r>
            <a:r>
              <a:rPr lang="en-US" dirty="0" err="1"/>
              <a:t>Te</a:t>
            </a:r>
            <a:r>
              <a:rPr lang="en-US" dirty="0"/>
              <a:t> hits fine, since we enforce in analysis, LE&gt;0</a:t>
            </a:r>
          </a:p>
          <a:p>
            <a:r>
              <a:rPr lang="en-US" dirty="0"/>
              <a:t>If double LE, Tot not set. Had to modify </a:t>
            </a:r>
            <a:r>
              <a:rPr lang="en-US" dirty="0" err="1"/>
              <a:t>SBSData.cxx</a:t>
            </a:r>
            <a:r>
              <a:rPr lang="en-US" dirty="0"/>
              <a:t> to handle this case.</a:t>
            </a:r>
          </a:p>
          <a:p>
            <a:r>
              <a:rPr lang="en-US" dirty="0"/>
              <a:t>Fixes “double” hits, but still secondary peaks</a:t>
            </a:r>
          </a:p>
          <a:p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5A81F3-C9D4-846E-BDF7-8A6BAC813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00" y="1460500"/>
            <a:ext cx="5177667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5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C6B4F2E0-F473-DAC2-B414-3EA4044CF6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1"/>
          <a:stretch>
            <a:fillRect/>
          </a:stretch>
        </p:blipFill>
        <p:spPr>
          <a:xfrm>
            <a:off x="268515" y="2010004"/>
            <a:ext cx="9095238" cy="33022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2ED342-FE9D-1789-0CE4-A3793367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Peaks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876B6-1FF4-2EA0-C0B7-797E3BC5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5656" y="3669109"/>
            <a:ext cx="4073769" cy="4351338"/>
          </a:xfrm>
        </p:spPr>
        <p:txBody>
          <a:bodyPr/>
          <a:lstStyle/>
          <a:p>
            <a:r>
              <a:rPr lang="en-US" dirty="0"/>
              <a:t>~1ns second peak</a:t>
            </a:r>
          </a:p>
          <a:p>
            <a:r>
              <a:rPr lang="en-US" dirty="0"/>
              <a:t>4ns periodicity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090ED6-9E63-4E5F-614E-E83DDF91F77D}"/>
              </a:ext>
            </a:extLst>
          </p:cNvPr>
          <p:cNvSpPr txBox="1"/>
          <p:nvPr/>
        </p:nvSpPr>
        <p:spPr>
          <a:xfrm>
            <a:off x="268515" y="5176998"/>
            <a:ext cx="82289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ref channel, starting/stopping </a:t>
            </a:r>
            <a:r>
              <a:rPr lang="en-US" dirty="0" err="1"/>
              <a:t>tdc</a:t>
            </a:r>
            <a:r>
              <a:rPr lang="en-US" dirty="0"/>
              <a:t> with same signal, expect self timing peak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Appears to be some problem with </a:t>
            </a:r>
            <a:r>
              <a:rPr lang="en-US" dirty="0" err="1"/>
              <a:t>tdc</a:t>
            </a:r>
            <a:r>
              <a:rPr lang="en-US" dirty="0"/>
              <a:t> (slot 20, but still investigating)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352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FD88E-1FEB-53B5-F63B-A299DF784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D4B8-E709-93CB-AA09-D59D352E9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Peaks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97B04-EAA9-42BE-7B25-C9D50D747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6915" y="2418102"/>
            <a:ext cx="4073769" cy="4351338"/>
          </a:xfrm>
        </p:spPr>
        <p:txBody>
          <a:bodyPr/>
          <a:lstStyle/>
          <a:p>
            <a:r>
              <a:rPr lang="en-US" sz="2400" dirty="0"/>
              <a:t>~1ns second peak</a:t>
            </a:r>
          </a:p>
          <a:p>
            <a:r>
              <a:rPr lang="en-US" sz="2400" dirty="0"/>
              <a:t>4ns periodicity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DF0AB-56E5-0FB9-631F-4097D41C6A2F}"/>
              </a:ext>
            </a:extLst>
          </p:cNvPr>
          <p:cNvSpPr txBox="1"/>
          <p:nvPr/>
        </p:nvSpPr>
        <p:spPr>
          <a:xfrm>
            <a:off x="267883" y="3914255"/>
            <a:ext cx="82289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Appears to be some problem with </a:t>
            </a:r>
            <a:r>
              <a:rPr lang="en-US" dirty="0" err="1"/>
              <a:t>tdc</a:t>
            </a:r>
            <a:r>
              <a:rPr lang="en-US" dirty="0"/>
              <a:t> (slot 20, but still investigating)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ref channel, starting/stopping </a:t>
            </a:r>
            <a:r>
              <a:rPr lang="en-US" dirty="0" err="1"/>
              <a:t>tdc</a:t>
            </a:r>
            <a:r>
              <a:rPr lang="en-US" dirty="0"/>
              <a:t> with same signal, expect self timing peak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Picture 8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3DD9ECA3-383D-DC57-47CA-E0ADCD36DD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601"/>
          <a:stretch>
            <a:fillRect/>
          </a:stretch>
        </p:blipFill>
        <p:spPr>
          <a:xfrm>
            <a:off x="268515" y="1690688"/>
            <a:ext cx="9156645" cy="209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3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F21CD-B1B3-6BCD-BFCE-852AD7B8F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Ref Peaks Effect on 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68DA917-CF0E-056A-2B9B-A8A31CF69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6971" y="1825625"/>
            <a:ext cx="3149600" cy="4351338"/>
          </a:xfrm>
        </p:spPr>
        <p:txBody>
          <a:bodyPr/>
          <a:lstStyle/>
          <a:p>
            <a:r>
              <a:rPr lang="en-US" dirty="0"/>
              <a:t>Peaks from 60-90ns</a:t>
            </a:r>
          </a:p>
          <a:p>
            <a:r>
              <a:rPr lang="en-US" dirty="0"/>
              <a:t>Not correct times</a:t>
            </a:r>
          </a:p>
          <a:p>
            <a:endParaRPr lang="en-US" dirty="0"/>
          </a:p>
        </p:txBody>
      </p:sp>
      <p:pic>
        <p:nvPicPr>
          <p:cNvPr id="14" name="Content Placeholder 10" descr="A graph of a blue line&#10;&#10;AI-generated content may be incorrect.">
            <a:extLst>
              <a:ext uri="{FF2B5EF4-FFF2-40B4-BE49-F238E27FC236}">
                <a16:creationId xmlns:a16="http://schemas.microsoft.com/office/drawing/2014/main" id="{69CB74C4-FD0F-7419-5048-BFC2F62ED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98" y="1476487"/>
            <a:ext cx="7577197" cy="470047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4A1C08D-2CC9-9395-6629-EAC557A336BA}"/>
              </a:ext>
            </a:extLst>
          </p:cNvPr>
          <p:cNvSpPr/>
          <p:nvPr/>
        </p:nvSpPr>
        <p:spPr>
          <a:xfrm>
            <a:off x="5685692" y="5498123"/>
            <a:ext cx="2098431" cy="6788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15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2C64-B220-1DFA-33C4-067F2387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 Ref Time</a:t>
            </a:r>
          </a:p>
        </p:txBody>
      </p:sp>
      <p:pic>
        <p:nvPicPr>
          <p:cNvPr id="5" name="Content Placeholder 4" descr="A graph showing a number of blue lines&#10;&#10;AI-generated content may be incorrect.">
            <a:extLst>
              <a:ext uri="{FF2B5EF4-FFF2-40B4-BE49-F238E27FC236}">
                <a16:creationId xmlns:a16="http://schemas.microsoft.com/office/drawing/2014/main" id="{0325A2EC-0A0C-9DCF-AD18-BF3FD1545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06212" y="1518108"/>
            <a:ext cx="2831123" cy="5339892"/>
          </a:xfr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E42B0FAF-B49A-1BE5-F7BE-62BFFC8CA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35" y="0"/>
            <a:ext cx="70164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10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9C14-B241-BD23-4C82-297FBE551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CDet</a:t>
            </a:r>
            <a:r>
              <a:rPr lang="en-US" dirty="0"/>
              <a:t> Timing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DEE8B-5D13-8659-CCBC-8927D15E4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Transit time along bar  -&gt; 2.5 ns</a:t>
            </a:r>
          </a:p>
          <a:p>
            <a:r>
              <a:rPr lang="en-US" dirty="0"/>
              <a:t>Time walk/pulse shape    -&gt; 1-2 ns (from g4sbs/</a:t>
            </a:r>
            <a:r>
              <a:rPr lang="en-US" dirty="0" err="1"/>
              <a:t>CDetMC</a:t>
            </a:r>
            <a:r>
              <a:rPr lang="en-US" dirty="0"/>
              <a:t>)</a:t>
            </a:r>
          </a:p>
          <a:p>
            <a:r>
              <a:rPr lang="en-US" dirty="0"/>
              <a:t>TDC non-linearity 	-&gt; 0.5 ns	(working on this)</a:t>
            </a:r>
          </a:p>
          <a:p>
            <a:endParaRPr lang="en-US" dirty="0"/>
          </a:p>
          <a:p>
            <a:r>
              <a:rPr lang="en-US" dirty="0"/>
              <a:t>Expect perhaps 5ns spread of “real” events (correlated in time with </a:t>
            </a:r>
            <a:r>
              <a:rPr lang="en-US" dirty="0" err="1"/>
              <a:t>ECal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Accidental/Real ratio:  ~ 750/3 = 250</a:t>
            </a:r>
          </a:p>
          <a:p>
            <a:r>
              <a:rPr lang="en-US" dirty="0"/>
              <a:t>5ns/60ns window width = 1/12</a:t>
            </a:r>
          </a:p>
          <a:p>
            <a:r>
              <a:rPr lang="en-US" dirty="0"/>
              <a:t>Timing ”Peak” S/N ratio ~ 250/12 = 21 = 5% above accidental background</a:t>
            </a:r>
          </a:p>
        </p:txBody>
      </p:sp>
    </p:spTree>
    <p:extLst>
      <p:ext uri="{BB962C8B-B14F-4D97-AF65-F5344CB8AC3E}">
        <p14:creationId xmlns:p14="http://schemas.microsoft.com/office/powerpoint/2010/main" val="2834428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AF44C-32F5-6B15-1766-8C390654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in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DA307-50F5-0044-BA06-F6E2C4C95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9828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TDC linearity studies … implementing a CDF approach</a:t>
            </a:r>
          </a:p>
          <a:p>
            <a:r>
              <a:rPr lang="en-US" dirty="0"/>
              <a:t>Event Display:	identify the ~10-20 </a:t>
            </a:r>
            <a:r>
              <a:rPr lang="en-US" dirty="0" err="1"/>
              <a:t>CDet</a:t>
            </a:r>
            <a:r>
              <a:rPr lang="en-US" dirty="0"/>
              <a:t> hits in the region predicted by </a:t>
            </a:r>
            <a:r>
              <a:rPr lang="en-US" dirty="0" err="1"/>
              <a:t>ECal</a:t>
            </a:r>
            <a:r>
              <a:rPr lang="en-US" dirty="0"/>
              <a:t> (X,Y) position projected to </a:t>
            </a:r>
            <a:r>
              <a:rPr lang="en-US" dirty="0" err="1"/>
              <a:t>CDet</a:t>
            </a:r>
            <a:r>
              <a:rPr lang="en-US" dirty="0"/>
              <a:t>, to understand </a:t>
            </a:r>
            <a:r>
              <a:rPr lang="en-US" dirty="0" err="1"/>
              <a:t>CDet</a:t>
            </a:r>
            <a:r>
              <a:rPr lang="en-US" dirty="0"/>
              <a:t> “clustering” and to develop approaches to reduce accidentals</a:t>
            </a:r>
          </a:p>
          <a:p>
            <a:r>
              <a:rPr lang="en-US" dirty="0"/>
              <a:t>Implementing CNU GPU cluster for analysis (~300 cores with ~100% availability)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534CB1A0-268E-76AD-64EB-B50B0D25C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159" y="0"/>
            <a:ext cx="3473014" cy="686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3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5BE72-B7E3-5A2C-8100-AC8DC527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B6886-2D9E-D8BF-2259-0661B3C4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in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AF2DB-957E-8664-84E5-FDA427421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9828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TDC linearity studies … implementing a CDF approach</a:t>
            </a:r>
          </a:p>
          <a:p>
            <a:r>
              <a:rPr lang="en-US" dirty="0"/>
              <a:t>Event Display:	identify the ~10-20 </a:t>
            </a:r>
            <a:r>
              <a:rPr lang="en-US" dirty="0" err="1"/>
              <a:t>CDet</a:t>
            </a:r>
            <a:r>
              <a:rPr lang="en-US" dirty="0"/>
              <a:t> hits in the region predicted by </a:t>
            </a:r>
            <a:r>
              <a:rPr lang="en-US" dirty="0" err="1"/>
              <a:t>ECal</a:t>
            </a:r>
            <a:r>
              <a:rPr lang="en-US" dirty="0"/>
              <a:t> (X,Y) position projected to </a:t>
            </a:r>
            <a:r>
              <a:rPr lang="en-US" dirty="0" err="1"/>
              <a:t>CDet</a:t>
            </a:r>
            <a:r>
              <a:rPr lang="en-US" dirty="0"/>
              <a:t>, to understand </a:t>
            </a:r>
            <a:r>
              <a:rPr lang="en-US" dirty="0" err="1"/>
              <a:t>CDet</a:t>
            </a:r>
            <a:r>
              <a:rPr lang="en-US" dirty="0"/>
              <a:t> “clustering” and to develop approaches to reduce accidentals</a:t>
            </a:r>
          </a:p>
          <a:p>
            <a:r>
              <a:rPr lang="en-US" dirty="0"/>
              <a:t>Implementing CNU GPU cluster for analysis (~300 cores with ~100% availability)</a:t>
            </a:r>
          </a:p>
        </p:txBody>
      </p:sp>
      <p:pic>
        <p:nvPicPr>
          <p:cNvPr id="6" name="Picture 5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91960AC2-FD39-F545-8D60-46BCBF52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705" y="681037"/>
            <a:ext cx="6346569" cy="4084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AA98BF-5CF2-4E96-08BD-CB2A06061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205" y="5999006"/>
            <a:ext cx="7155745" cy="62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20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2ED93-381D-6280-0CFA-86EDCEE2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6EFF-6F6C-1AD5-3C79-FE088FC4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in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AD80-2BB4-CA0B-B3A7-560594DA2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9828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TDC linearity studies … implementing a CDF approach</a:t>
            </a:r>
          </a:p>
          <a:p>
            <a:r>
              <a:rPr lang="en-US" dirty="0"/>
              <a:t>Event Display:	identify the ~10-20 </a:t>
            </a:r>
            <a:r>
              <a:rPr lang="en-US" dirty="0" err="1"/>
              <a:t>CDet</a:t>
            </a:r>
            <a:r>
              <a:rPr lang="en-US" dirty="0"/>
              <a:t> hits in the region predicted by </a:t>
            </a:r>
            <a:r>
              <a:rPr lang="en-US" dirty="0" err="1"/>
              <a:t>ECal</a:t>
            </a:r>
            <a:r>
              <a:rPr lang="en-US" dirty="0"/>
              <a:t> (X,Y) position projected to </a:t>
            </a:r>
            <a:r>
              <a:rPr lang="en-US" dirty="0" err="1"/>
              <a:t>CDet</a:t>
            </a:r>
            <a:r>
              <a:rPr lang="en-US" dirty="0"/>
              <a:t>, to understand </a:t>
            </a:r>
            <a:r>
              <a:rPr lang="en-US" dirty="0" err="1"/>
              <a:t>CDet</a:t>
            </a:r>
            <a:r>
              <a:rPr lang="en-US" dirty="0"/>
              <a:t> “clustering” and to develop approaches to reduce accidentals</a:t>
            </a:r>
          </a:p>
          <a:p>
            <a:r>
              <a:rPr lang="en-US" dirty="0"/>
              <a:t>Implementing CNU GPU cluster for analysis (~300 cores with ~100% availability)</a:t>
            </a:r>
          </a:p>
        </p:txBody>
      </p:sp>
      <p:pic>
        <p:nvPicPr>
          <p:cNvPr id="5" name="Picture 4" descr="A graph with blue lines&#10;&#10;AI-generated content may be incorrect.">
            <a:extLst>
              <a:ext uri="{FF2B5EF4-FFF2-40B4-BE49-F238E27FC236}">
                <a16:creationId xmlns:a16="http://schemas.microsoft.com/office/drawing/2014/main" id="{F96DE027-3556-526C-238F-A4E660813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397" y="0"/>
            <a:ext cx="3780625" cy="3731905"/>
          </a:xfrm>
          <a:prstGeom prst="rect">
            <a:avLst/>
          </a:prstGeom>
        </p:spPr>
      </p:pic>
      <p:pic>
        <p:nvPicPr>
          <p:cNvPr id="9" name="Picture 8" descr="A graph showing the number of companies&#10;&#10;AI-generated content may be incorrect.">
            <a:extLst>
              <a:ext uri="{FF2B5EF4-FFF2-40B4-BE49-F238E27FC236}">
                <a16:creationId xmlns:a16="http://schemas.microsoft.com/office/drawing/2014/main" id="{332AF07F-49F5-8729-C9A8-7174E0ABC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716" y="3887659"/>
            <a:ext cx="3779537" cy="260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71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2892</TotalTime>
  <Words>650</Words>
  <Application>Microsoft Macintosh PowerPoint</Application>
  <PresentationFormat>Widescreen</PresentationFormat>
  <Paragraphs>71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Nov 11th Update</vt:lpstr>
      <vt:lpstr>CDet Timing Calculation</vt:lpstr>
      <vt:lpstr>Reference Signal</vt:lpstr>
      <vt:lpstr>Reference Signal – Log Scaled</vt:lpstr>
      <vt:lpstr>Ref Signal Double Hits</vt:lpstr>
      <vt:lpstr>Ref Signal Fix</vt:lpstr>
      <vt:lpstr>Secondary Peaks</vt:lpstr>
      <vt:lpstr>Secondary Peaks</vt:lpstr>
      <vt:lpstr>Secondary Ref Peaks Effect on LE</vt:lpstr>
      <vt:lpstr>Adjust Ref Time</vt:lpstr>
      <vt:lpstr>CDet Timing </vt:lpstr>
      <vt:lpstr>Work in Progress</vt:lpstr>
      <vt:lpstr>Work in Progress</vt:lpstr>
      <vt:lpstr>Work in Progress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Spaude, Ben</dc:creator>
  <cp:lastModifiedBy>Spaude, Ben</cp:lastModifiedBy>
  <cp:revision>39</cp:revision>
  <dcterms:created xsi:type="dcterms:W3CDTF">2025-11-05T18:01:32Z</dcterms:created>
  <dcterms:modified xsi:type="dcterms:W3CDTF">2025-11-11T15:58:24Z</dcterms:modified>
</cp:coreProperties>
</file>