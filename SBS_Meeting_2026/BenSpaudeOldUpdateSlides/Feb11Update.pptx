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9" r:id="rId4"/>
    <p:sldId id="257" r:id="rId5"/>
    <p:sldId id="268" r:id="rId6"/>
    <p:sldId id="270" r:id="rId7"/>
    <p:sldId id="259" r:id="rId8"/>
    <p:sldId id="272" r:id="rId9"/>
    <p:sldId id="258" r:id="rId10"/>
    <p:sldId id="262" r:id="rId11"/>
    <p:sldId id="261" r:id="rId12"/>
    <p:sldId id="263" r:id="rId13"/>
    <p:sldId id="266" r:id="rId14"/>
    <p:sldId id="273" r:id="rId15"/>
    <p:sldId id="264" r:id="rId16"/>
    <p:sldId id="271" r:id="rId17"/>
    <p:sldId id="26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82"/>
    <p:restoredTop sz="94595"/>
  </p:normalViewPr>
  <p:slideViewPr>
    <p:cSldViewPr snapToGrid="0">
      <p:cViewPr varScale="1">
        <p:scale>
          <a:sx n="109" d="100"/>
          <a:sy n="109" d="100"/>
        </p:scale>
        <p:origin x="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47A84-2370-2053-4848-2E2953173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34CCE-8E60-C139-7C8B-B58291F60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A6F0C-AD26-B1E1-17FD-135E880F3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9FE88-8253-96BF-440B-4C1E6961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5E13A-611C-33BC-525B-AD371F17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8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A17D-2083-C960-2D37-7F6094546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96873-5A78-01D2-EDDA-710FB2EF7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4604D-5247-C24A-4321-332B6E60F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EADF3-0FFD-F6A8-D23D-AA806CA41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677AF-1C66-4EEC-BB4D-DF4B862D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24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9E327-D90C-B6F4-D853-10A311ADF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EFD22-889D-F252-C155-F0624BCA3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A16E4-4BB1-DA79-5555-4F056BD43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302D2-D9E1-853B-34F4-90E802B69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F2055-7C86-4DC8-03ED-C4B6DCC2C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46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6424D-1859-72C7-6EF7-3418ED0ED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47890-37B1-C2C8-D7D0-1F5FF399D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278B1-60E6-8838-B140-F3E5C3C2A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11812-1FF2-1E67-7B27-712A60E3E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09F39-45AB-F9A5-8C28-C4ABB4BB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F57A8-2A20-E548-2EBA-E8DC22F1B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85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309BA-FC5A-8B46-194D-B29222C68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537B5-45FE-A313-CFD2-3FF5BCD74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5F83A-FB77-45B5-5415-0703CEC4D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337BAB-F2F5-9DDB-81E7-109F36905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3247FC-8ECA-935D-BF21-7819C285C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00155D-F92E-4730-248D-04775B2D2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7B0A28-4DB9-7BA1-C3B0-7C5D67335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D263A6-268B-8C00-5784-C2DA7D78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50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0E480-5236-BCEF-BFBA-679E2CD02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B2FA16-0766-428F-0D9E-BF2D7EA06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4D591-626F-9589-CA0A-E1C24509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1AF3D-289C-BC09-9A64-76F403F78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520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141F2C-BF9E-454F-FFCA-974F31FAE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9777F1-0CE3-EBF8-273F-B66084233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4E9AD-106D-39D7-B505-837EE1EEE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18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2C24D-39E9-7E9A-C0A0-98E052794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969D4-F773-8556-8CC5-BF590911E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77688-0F8D-76EB-EDF4-81362C00A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566E9-421D-1E21-6AD8-198E60BAE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B3A6C-E547-CD6C-97BF-9A7686614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519FB-CA8E-2831-DD4A-6B2CAD281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86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3DDE-5F97-CD3B-B428-877378C33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1FB8A3-FF8B-36A4-08D4-21335CD22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88F02-7C98-421F-580F-63DCA0A93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5190A-B261-68B8-B531-94F86C60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DCB3A-60B2-0997-5AE3-DD8DBA362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B1B6F-C7BD-B3A7-FDE8-168124CB1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047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44337-6594-22E5-854F-0F580467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BBEBF-2CCA-9FC0-69EE-435B9AF75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8A4FB-E423-E115-64FE-849279B3E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423C4-1081-2718-C5EB-DF5850636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DDE2A-5DEA-EF16-0BA3-E2DDC25BC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01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316871-AD16-8454-EAD7-19F5BA825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7E6355-984B-2914-CF5D-E8C4F7856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729DC-48BD-E687-1C5D-F15231E58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377C0-A4DB-7203-3B3D-30A2EE5AC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BF488-B9E6-7D74-0EB0-379743FC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3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095F46-3479-DF13-039A-A1D964F91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3F6CD-87B3-5C8A-11B9-7025AA2FA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3B0A8-8D31-5EFA-62E7-9CC8D0CEE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D5B85E-4293-C14D-B36D-C84CDEEB964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30CE1-28BB-0C20-EE3C-1BA5A185A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E7EA1-5803-0A62-5CBB-B478DD1FD4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68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25589-828C-F6F0-8698-92D061A13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Feb 17</a:t>
            </a:r>
            <a:r>
              <a:rPr lang="en-US" baseline="30000" dirty="0"/>
              <a:t>th</a:t>
            </a:r>
            <a:r>
              <a:rPr lang="en-US" dirty="0"/>
              <a:t>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59D0C9-6CB8-17A2-4C24-E3C619F892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 Spaude</a:t>
            </a:r>
          </a:p>
        </p:txBody>
      </p:sp>
    </p:spTree>
    <p:extLst>
      <p:ext uri="{BB962C8B-B14F-4D97-AF65-F5344CB8AC3E}">
        <p14:creationId xmlns:p14="http://schemas.microsoft.com/office/powerpoint/2010/main" val="3242217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8DB6F-09AB-E027-3B13-4AC695BC3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6089-2242-917C-5DEE-B9F51442A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Rates – Run 3640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A997C-7BAA-F342-79B4-CC1FBFC6FD5C}"/>
              </a:ext>
            </a:extLst>
          </p:cNvPr>
          <p:cNvSpPr txBox="1"/>
          <p:nvPr/>
        </p:nvSpPr>
        <p:spPr>
          <a:xfrm>
            <a:off x="7599118" y="112991"/>
            <a:ext cx="3664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3640,  470k events, LH2 @ 5uA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2D4173E-89E1-F04E-BCAD-5145EC928C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𝑅𝑎𝑡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h𝑖𝑡𝑠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𝑝𝑖𝑥𝑒𝑙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𝑒𝑣𝑒𝑛𝑡𝑠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Ave Rate calculation ignores missing pixels &amp; “bad” PMTs</a:t>
                </a:r>
              </a:p>
              <a:p>
                <a:r>
                  <a:rPr lang="en-US" dirty="0"/>
                  <a:t>Computed for each side of each module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2D4173E-89E1-F04E-BCAD-5145EC928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  <a:blipFill>
                <a:blip r:embed="rId2"/>
                <a:stretch>
                  <a:fillRect l="-2817" t="-581" r="-3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874AB8B-20DE-E082-F536-CA2F5BE56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4811"/>
            <a:ext cx="8668545" cy="449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26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B1D01-EB6D-69C5-1880-B568DD320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1E5A3-ED1B-F7F1-E22C-0ABE20D8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Rates – Run 5811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62BBB-26F8-14CE-D46F-5B24B6224A21}"/>
              </a:ext>
            </a:extLst>
          </p:cNvPr>
          <p:cNvSpPr txBox="1"/>
          <p:nvPr/>
        </p:nvSpPr>
        <p:spPr>
          <a:xfrm>
            <a:off x="7599118" y="112991"/>
            <a:ext cx="3741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5811, 729k events, LH2 @ 16uA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FAFCC272-CEEC-7328-8382-E0EB044D51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𝑅𝑎𝑡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h𝑖𝑡𝑠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𝑝𝑖𝑥𝑒𝑙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𝑒𝑣𝑒𝑛𝑡𝑠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Ave Rate calculation ignores missing pixels &amp; “bad” PMTs</a:t>
                </a:r>
              </a:p>
              <a:p>
                <a:r>
                  <a:rPr lang="en-US" dirty="0"/>
                  <a:t>Computed for each side of each module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FAFCC272-CEEC-7328-8382-E0EB044D5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  <a:blipFill>
                <a:blip r:embed="rId2"/>
                <a:stretch>
                  <a:fillRect l="-2817" t="-581" r="-3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B4A67C6-9DA5-0343-05AC-78C2BE42A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8639719" cy="446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86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298A3-6A1E-5F55-A833-73A578A62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Rates – Run 6077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703E39-8C94-F7CC-45B3-610CF2224B7E}"/>
              </a:ext>
            </a:extLst>
          </p:cNvPr>
          <p:cNvSpPr txBox="1"/>
          <p:nvPr/>
        </p:nvSpPr>
        <p:spPr>
          <a:xfrm>
            <a:off x="7599118" y="112991"/>
            <a:ext cx="3754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6077, 2.3M events, LH2 @ 22uA</a:t>
            </a:r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318715C-A012-148E-4AC8-4CA40BEF7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2822"/>
            <a:ext cx="8818027" cy="45500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57BF17-B095-580F-FBDE-8B9F1F7AE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33694" y="2306271"/>
                <a:ext cx="3593122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𝑅𝑎𝑡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h𝑖𝑡𝑠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𝑝𝑖𝑥𝑒𝑙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𝑒𝑣𝑒𝑛𝑡𝑠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Ave Rate calculation ignores missing pixels &amp; “bad” PMTs</a:t>
                </a:r>
              </a:p>
              <a:p>
                <a:r>
                  <a:rPr lang="en-US" dirty="0"/>
                  <a:t>Computed for each side of each module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57BF17-B095-580F-FBDE-8B9F1F7AE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33694" y="2306271"/>
                <a:ext cx="3593122" cy="4351338"/>
              </a:xfrm>
              <a:blipFill>
                <a:blip r:embed="rId3"/>
                <a:stretch>
                  <a:fillRect l="-2817" t="-581" r="-3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6145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F76EB-57AF-F4FE-8C50-ED57C488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384F7-19B2-39BA-C0CC-07B313F78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Rates – Run 3640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CD59E-BCA2-7F3A-EFA0-3627C3B875F6}"/>
              </a:ext>
            </a:extLst>
          </p:cNvPr>
          <p:cNvSpPr txBox="1"/>
          <p:nvPr/>
        </p:nvSpPr>
        <p:spPr>
          <a:xfrm>
            <a:off x="7599118" y="112991"/>
            <a:ext cx="3664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3640,  470k events, LH2 @ 5uA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5EF254F-1404-FBE4-E8B2-2CF9F8E851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𝑅𝑎𝑡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h𝑖𝑡𝑠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𝑝𝑖𝑥𝑒𝑙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𝑒𝑣𝑒𝑛𝑡𝑠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Ave Rate calculation ignores missing pixels &amp; “bad” PMTs</a:t>
                </a:r>
              </a:p>
              <a:p>
                <a:r>
                  <a:rPr lang="en-US" dirty="0"/>
                  <a:t>Computed for each side of each module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5EF254F-1404-FBE4-E8B2-2CF9F8E85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  <a:blipFill>
                <a:blip r:embed="rId2"/>
                <a:stretch>
                  <a:fillRect l="-2817" t="-581" r="-3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723DCE7-D132-437F-995D-F6071D507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8761400" cy="449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292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30FD9-8B2A-4EF5-627E-FA636C352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21E5D-ECB1-16C0-D07B-2C5B34C1B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Rates – Run 5811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ED4C48-188E-6A40-01AD-A10C0A5071B1}"/>
              </a:ext>
            </a:extLst>
          </p:cNvPr>
          <p:cNvSpPr txBox="1"/>
          <p:nvPr/>
        </p:nvSpPr>
        <p:spPr>
          <a:xfrm>
            <a:off x="7599118" y="112991"/>
            <a:ext cx="3664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5811,  729k events, LH2 @ 5uA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DBFD82D-F1E9-172E-A03D-5D238A0E9D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𝑅𝑎𝑡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h𝑖𝑡𝑠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𝑝𝑖𝑥𝑒𝑙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𝑒𝑣𝑒𝑛𝑡𝑠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Ave Rate calculation ignores missing pixels &amp; “bad” PMTs</a:t>
                </a:r>
              </a:p>
              <a:p>
                <a:r>
                  <a:rPr lang="en-US" dirty="0"/>
                  <a:t>Computed for each side of each module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DBFD82D-F1E9-172E-A03D-5D238A0E9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  <a:blipFill>
                <a:blip r:embed="rId2"/>
                <a:stretch>
                  <a:fillRect l="-2817" t="-581" r="-3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8A776DC-6373-723A-C64F-1DBE7F8DB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559" y="1942822"/>
            <a:ext cx="8745253" cy="454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653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0F008-D655-4635-B171-60DA9BBDC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E8CE5-7BF3-F5E6-A591-5C8111578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Rates – Run 6077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BF4BE5-065E-0C2F-3811-EB8D72AD6FA9}"/>
              </a:ext>
            </a:extLst>
          </p:cNvPr>
          <p:cNvSpPr txBox="1"/>
          <p:nvPr/>
        </p:nvSpPr>
        <p:spPr>
          <a:xfrm>
            <a:off x="7599118" y="112991"/>
            <a:ext cx="3754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6077, 2.3M events, LH2 @ 22uA</a:t>
            </a:r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557E53B-C278-722B-8717-1EA0E94B9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2822"/>
            <a:ext cx="8983473" cy="46749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15B6F3B-893C-373C-1F9A-1A689AB8C6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𝑅𝑎𝑡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h𝑖𝑡𝑠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𝑝𝑖𝑥𝑒𝑙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𝑒𝑣𝑒𝑛𝑡𝑠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Ave Rate calculation ignores missing pixels &amp; “bad” PMTs</a:t>
                </a:r>
              </a:p>
              <a:p>
                <a:r>
                  <a:rPr lang="en-US" dirty="0"/>
                  <a:t>Computed for each side of each module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15B6F3B-893C-373C-1F9A-1A689AB8C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  <a:blipFill>
                <a:blip r:embed="rId3"/>
                <a:stretch>
                  <a:fillRect l="-2817" t="-581" r="-3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FEA1147-E255-89DE-2269-F3CAE7EC63ED}"/>
              </a:ext>
            </a:extLst>
          </p:cNvPr>
          <p:cNvSpPr txBox="1"/>
          <p:nvPr/>
        </p:nvSpPr>
        <p:spPr>
          <a:xfrm>
            <a:off x="9387068" y="5868365"/>
            <a:ext cx="6643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do this with # total hits passing </a:t>
            </a:r>
            <a:r>
              <a:rPr lang="en-US" dirty="0" err="1"/>
              <a:t>xdiff</a:t>
            </a:r>
            <a:r>
              <a:rPr lang="en-US" dirty="0"/>
              <a:t> divided by total analyzed</a:t>
            </a:r>
          </a:p>
        </p:txBody>
      </p:sp>
    </p:spTree>
    <p:extLst>
      <p:ext uri="{BB962C8B-B14F-4D97-AF65-F5344CB8AC3E}">
        <p14:creationId xmlns:p14="http://schemas.microsoft.com/office/powerpoint/2010/main" val="3601131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FBB02-9BE5-C544-6D06-8A09D244F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Raw Rates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A7FBB3-85DF-1325-FBEA-4DA7B62995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217239"/>
              </p:ext>
            </p:extLst>
          </p:nvPr>
        </p:nvGraphicFramePr>
        <p:xfrm>
          <a:off x="1784838" y="1609968"/>
          <a:ext cx="8622323" cy="51190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3578">
                  <a:extLst>
                    <a:ext uri="{9D8B030D-6E8A-4147-A177-3AD203B41FA5}">
                      <a16:colId xmlns:a16="http://schemas.microsoft.com/office/drawing/2014/main" val="4289627360"/>
                    </a:ext>
                  </a:extLst>
                </a:gridCol>
                <a:gridCol w="1503894">
                  <a:extLst>
                    <a:ext uri="{9D8B030D-6E8A-4147-A177-3AD203B41FA5}">
                      <a16:colId xmlns:a16="http://schemas.microsoft.com/office/drawing/2014/main" val="3264784693"/>
                    </a:ext>
                  </a:extLst>
                </a:gridCol>
                <a:gridCol w="1618475">
                  <a:extLst>
                    <a:ext uri="{9D8B030D-6E8A-4147-A177-3AD203B41FA5}">
                      <a16:colId xmlns:a16="http://schemas.microsoft.com/office/drawing/2014/main" val="3120279390"/>
                    </a:ext>
                  </a:extLst>
                </a:gridCol>
                <a:gridCol w="1618475">
                  <a:extLst>
                    <a:ext uri="{9D8B030D-6E8A-4147-A177-3AD203B41FA5}">
                      <a16:colId xmlns:a16="http://schemas.microsoft.com/office/drawing/2014/main" val="3324973221"/>
                    </a:ext>
                  </a:extLst>
                </a:gridCol>
                <a:gridCol w="1947901">
                  <a:extLst>
                    <a:ext uri="{9D8B030D-6E8A-4147-A177-3AD203B41FA5}">
                      <a16:colId xmlns:a16="http://schemas.microsoft.com/office/drawing/2014/main" val="69163007"/>
                    </a:ext>
                  </a:extLst>
                </a:gridCol>
              </a:tblGrid>
              <a:tr h="344792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Reported with +/-0.005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202973"/>
                  </a:ext>
                </a:extLst>
              </a:tr>
              <a:tr h="6367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Layer, Module, Side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Raw Rate - 5uA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Raw Rate - 16uA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Raw Rate - 22uA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Combined Ave Rate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015525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L1,M1,Left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0.310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32039647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L1,M2,Left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0.260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0.310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00891279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L1,M3,Left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0.190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29557764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L1,M1,Right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0.140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0006899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L1,M2,Right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73759437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L1,M3,Right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8935232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L2,M1,Left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0.190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0.240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269129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L2,M2,Left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0.140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0.195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0.160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8475343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L2,M3,Left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0.030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0.315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0.320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63876969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L2,M1,Right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0.190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0.207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8556741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L2,M2,Right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0.350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0.260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0.303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51223002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L2,M3,Right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0.060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0.160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893877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6DE186-3B66-C2E4-DCA0-4AB73B8AFE47}"/>
              </a:ext>
            </a:extLst>
          </p:cNvPr>
          <p:cNvSpPr txBox="1"/>
          <p:nvPr/>
        </p:nvSpPr>
        <p:spPr>
          <a:xfrm>
            <a:off x="-1868422" y="5153871"/>
            <a:ext cx="17565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Make into graph</a:t>
            </a:r>
          </a:p>
          <a:p>
            <a:r>
              <a:rPr lang="en-US" dirty="0"/>
              <a:t>Put outlier 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38638E-E624-E205-B283-420C12FC4685}"/>
              </a:ext>
            </a:extLst>
          </p:cNvPr>
          <p:cNvSpPr txBox="1"/>
          <p:nvPr/>
        </p:nvSpPr>
        <p:spPr>
          <a:xfrm>
            <a:off x="-4898483" y="3059668"/>
            <a:ext cx="4786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Look for runs where we were missing a module</a:t>
            </a:r>
          </a:p>
        </p:txBody>
      </p:sp>
    </p:spTree>
    <p:extLst>
      <p:ext uri="{BB962C8B-B14F-4D97-AF65-F5344CB8AC3E}">
        <p14:creationId xmlns:p14="http://schemas.microsoft.com/office/powerpoint/2010/main" val="781799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E55BB-52F6-EC17-4A2F-4D36C91C9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Spectra in Bars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8D2095-9589-9439-4354-A41185F1D1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820"/>
          <a:stretch>
            <a:fillRect/>
          </a:stretch>
        </p:blipFill>
        <p:spPr>
          <a:xfrm>
            <a:off x="347748" y="1478458"/>
            <a:ext cx="6672030" cy="5329025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BE7A5E-6165-FC05-05CA-EC9B35AC04C0}"/>
              </a:ext>
            </a:extLst>
          </p:cNvPr>
          <p:cNvSpPr txBox="1"/>
          <p:nvPr/>
        </p:nvSpPr>
        <p:spPr>
          <a:xfrm>
            <a:off x="4957134" y="112991"/>
            <a:ext cx="7234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Cuts: Tot &gt; 6ns , </a:t>
            </a:r>
            <a:r>
              <a:rPr lang="en-US" dirty="0" err="1"/>
              <a:t>Cdet-Ecal</a:t>
            </a:r>
            <a:r>
              <a:rPr lang="en-US" dirty="0"/>
              <a:t> </a:t>
            </a:r>
            <a:r>
              <a:rPr lang="en-US" dirty="0" err="1"/>
              <a:t>xdiff</a:t>
            </a:r>
            <a:r>
              <a:rPr lang="en-US" dirty="0"/>
              <a:t> within 10cm, raw rate &lt; module average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9BC454-6819-FCA1-7519-D251E10B4F26}"/>
              </a:ext>
            </a:extLst>
          </p:cNvPr>
          <p:cNvSpPr txBox="1"/>
          <p:nvPr/>
        </p:nvSpPr>
        <p:spPr>
          <a:xfrm>
            <a:off x="7280031" y="658574"/>
            <a:ext cx="3909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I forgot to implement the tot cut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26D676-DBB4-38D7-AFC0-80BB7DC8C769}"/>
              </a:ext>
            </a:extLst>
          </p:cNvPr>
          <p:cNvSpPr txBox="1"/>
          <p:nvPr/>
        </p:nvSpPr>
        <p:spPr>
          <a:xfrm>
            <a:off x="8980773" y="2382013"/>
            <a:ext cx="296195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Rate &lt; 1 (every pixel)</a:t>
            </a:r>
          </a:p>
          <a:p>
            <a:r>
              <a:rPr lang="en-US" sz="2800" dirty="0"/>
              <a:t>Looks like noise (as expected)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99933-EA35-5112-FB07-58E230707836}"/>
              </a:ext>
            </a:extLst>
          </p:cNvPr>
          <p:cNvSpPr txBox="1"/>
          <p:nvPr/>
        </p:nvSpPr>
        <p:spPr>
          <a:xfrm>
            <a:off x="6836898" y="1858793"/>
            <a:ext cx="1876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139.8k hits</a:t>
            </a:r>
          </a:p>
        </p:txBody>
      </p:sp>
    </p:spTree>
    <p:extLst>
      <p:ext uri="{BB962C8B-B14F-4D97-AF65-F5344CB8AC3E}">
        <p14:creationId xmlns:p14="http://schemas.microsoft.com/office/powerpoint/2010/main" val="1702431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5B1D3-B13E-3691-2CC4-FA0CE05B8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814B-365D-F319-2552-942D5373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Spectra in Bars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A9CCF4-5D5B-895D-886C-AC5247C9BEFE}"/>
              </a:ext>
            </a:extLst>
          </p:cNvPr>
          <p:cNvSpPr txBox="1"/>
          <p:nvPr/>
        </p:nvSpPr>
        <p:spPr>
          <a:xfrm>
            <a:off x="4957134" y="112991"/>
            <a:ext cx="7234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Cuts: Tot &gt; 6ns , </a:t>
            </a:r>
            <a:r>
              <a:rPr lang="en-US" dirty="0" err="1"/>
              <a:t>Cdet-Ecal</a:t>
            </a:r>
            <a:r>
              <a:rPr lang="en-US" dirty="0"/>
              <a:t> </a:t>
            </a:r>
            <a:r>
              <a:rPr lang="en-US" dirty="0" err="1"/>
              <a:t>xdiff</a:t>
            </a:r>
            <a:r>
              <a:rPr lang="en-US" dirty="0"/>
              <a:t> within 10cm, raw rate &lt; module average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F20EF-44DA-FB3E-EE46-0CEAA0A2988C}"/>
              </a:ext>
            </a:extLst>
          </p:cNvPr>
          <p:cNvSpPr txBox="1"/>
          <p:nvPr/>
        </p:nvSpPr>
        <p:spPr>
          <a:xfrm>
            <a:off x="7280031" y="658574"/>
            <a:ext cx="3909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I forgot to implement the tot cut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E3D07D-8F51-990F-1553-061CD7E315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568" y="1690688"/>
            <a:ext cx="6263637" cy="5082906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2D2728-4653-2987-8B44-30C994D791CA}"/>
              </a:ext>
            </a:extLst>
          </p:cNvPr>
          <p:cNvSpPr txBox="1"/>
          <p:nvPr/>
        </p:nvSpPr>
        <p:spPr>
          <a:xfrm>
            <a:off x="7765367" y="2382013"/>
            <a:ext cx="4177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Rate &lt; 0.3 (~</a:t>
            </a:r>
            <a:r>
              <a:rPr lang="en-US" sz="2800" dirty="0" err="1"/>
              <a:t>ave</a:t>
            </a:r>
            <a:r>
              <a:rPr lang="en-US" sz="2800" dirty="0"/>
              <a:t> for </a:t>
            </a:r>
            <a:r>
              <a:rPr lang="en-US" sz="2800" dirty="0" err="1"/>
              <a:t>CDet</a:t>
            </a:r>
            <a:r>
              <a:rPr lang="en-US" sz="2800" dirty="0"/>
              <a:t>)</a:t>
            </a:r>
          </a:p>
          <a:p>
            <a:r>
              <a:rPr lang="en-US" sz="2800" dirty="0"/>
              <a:t>Slight Bump at tot ~30ns?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83E08A-47EE-BF23-4835-30EA0FC28768}"/>
              </a:ext>
            </a:extLst>
          </p:cNvPr>
          <p:cNvSpPr txBox="1"/>
          <p:nvPr/>
        </p:nvSpPr>
        <p:spPr>
          <a:xfrm>
            <a:off x="6362587" y="1974661"/>
            <a:ext cx="13887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38k hits</a:t>
            </a:r>
          </a:p>
        </p:txBody>
      </p:sp>
    </p:spTree>
    <p:extLst>
      <p:ext uri="{BB962C8B-B14F-4D97-AF65-F5344CB8AC3E}">
        <p14:creationId xmlns:p14="http://schemas.microsoft.com/office/powerpoint/2010/main" val="864378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122D7-70DE-5552-FB18-45BB95ED2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3E90-BDF3-778D-CD5D-246C8F75B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Spectra in Bars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2A4E3-6C6B-BA5F-ED2D-788AFE56C124}"/>
              </a:ext>
            </a:extLst>
          </p:cNvPr>
          <p:cNvSpPr txBox="1"/>
          <p:nvPr/>
        </p:nvSpPr>
        <p:spPr>
          <a:xfrm>
            <a:off x="4957134" y="112991"/>
            <a:ext cx="7234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Cuts: Tot &gt; 6ns , </a:t>
            </a:r>
            <a:r>
              <a:rPr lang="en-US" dirty="0" err="1"/>
              <a:t>Cdet-Ecal</a:t>
            </a:r>
            <a:r>
              <a:rPr lang="en-US" dirty="0"/>
              <a:t> </a:t>
            </a:r>
            <a:r>
              <a:rPr lang="en-US" dirty="0" err="1"/>
              <a:t>xdiff</a:t>
            </a:r>
            <a:r>
              <a:rPr lang="en-US" dirty="0"/>
              <a:t> within 10cm, raw rate &lt; module average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6D2A94-78B3-061E-8998-F5EB9D53AF73}"/>
              </a:ext>
            </a:extLst>
          </p:cNvPr>
          <p:cNvSpPr txBox="1"/>
          <p:nvPr/>
        </p:nvSpPr>
        <p:spPr>
          <a:xfrm>
            <a:off x="7280031" y="658574"/>
            <a:ext cx="3909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I forgot to implement the tot cut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46C4F0-5237-0217-D832-68C0361FB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68" y="1423401"/>
            <a:ext cx="6682154" cy="538200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9CD0EB-9E28-0BBA-5BC4-2A6F46AF36E3}"/>
              </a:ext>
            </a:extLst>
          </p:cNvPr>
          <p:cNvSpPr txBox="1"/>
          <p:nvPr/>
        </p:nvSpPr>
        <p:spPr>
          <a:xfrm>
            <a:off x="7765367" y="2382013"/>
            <a:ext cx="41773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Rate &lt; 0.175 module average)</a:t>
            </a:r>
          </a:p>
          <a:p>
            <a:r>
              <a:rPr lang="en-US" sz="2800" dirty="0"/>
              <a:t>Slight Bump at tot ~20-30ns?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67F436-8FF0-D617-284F-70DA835798A0}"/>
              </a:ext>
            </a:extLst>
          </p:cNvPr>
          <p:cNvSpPr txBox="1"/>
          <p:nvPr/>
        </p:nvSpPr>
        <p:spPr>
          <a:xfrm>
            <a:off x="6536438" y="1774740"/>
            <a:ext cx="13887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22k hits</a:t>
            </a:r>
          </a:p>
        </p:txBody>
      </p:sp>
    </p:spTree>
    <p:extLst>
      <p:ext uri="{BB962C8B-B14F-4D97-AF65-F5344CB8AC3E}">
        <p14:creationId xmlns:p14="http://schemas.microsoft.com/office/powerpoint/2010/main" val="1839404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A9335-4304-DF9C-56D8-7D2DA84E1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89723-C3D5-98EA-A9BF-8E6BC56EF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Spectra in Bars (2ns bins)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9A90E-0B22-EE99-12D4-0653DA217E88}"/>
              </a:ext>
            </a:extLst>
          </p:cNvPr>
          <p:cNvSpPr txBox="1"/>
          <p:nvPr/>
        </p:nvSpPr>
        <p:spPr>
          <a:xfrm>
            <a:off x="4957134" y="112991"/>
            <a:ext cx="7234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Cuts: Tot &gt; 6ns , </a:t>
            </a:r>
            <a:r>
              <a:rPr lang="en-US" dirty="0" err="1"/>
              <a:t>Cdet-Ecal</a:t>
            </a:r>
            <a:r>
              <a:rPr lang="en-US" dirty="0"/>
              <a:t> </a:t>
            </a:r>
            <a:r>
              <a:rPr lang="en-US" dirty="0" err="1"/>
              <a:t>xdiff</a:t>
            </a:r>
            <a:r>
              <a:rPr lang="en-US" dirty="0"/>
              <a:t> within 10cm, raw rate &lt; module average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423B5-ED64-70D9-ED78-9F4088B04137}"/>
              </a:ext>
            </a:extLst>
          </p:cNvPr>
          <p:cNvSpPr txBox="1"/>
          <p:nvPr/>
        </p:nvSpPr>
        <p:spPr>
          <a:xfrm>
            <a:off x="8370277" y="385783"/>
            <a:ext cx="3909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I forgot to implement the tot cut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B888CA-9C4E-689E-0E6F-E2030FF70C37}"/>
              </a:ext>
            </a:extLst>
          </p:cNvPr>
          <p:cNvSpPr txBox="1"/>
          <p:nvPr/>
        </p:nvSpPr>
        <p:spPr>
          <a:xfrm>
            <a:off x="7765367" y="2382013"/>
            <a:ext cx="41773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Rate &lt; 0.175 module average)</a:t>
            </a:r>
          </a:p>
          <a:p>
            <a:r>
              <a:rPr lang="en-US" sz="2800" dirty="0"/>
              <a:t>Slight Bump at tot ~20-30ns?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157634-2DDF-5C7C-2E5E-8C1CD2EA8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44271"/>
            <a:ext cx="6611815" cy="5283549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08ADB8-47AB-5C30-0584-4A7CBAE4079C}"/>
              </a:ext>
            </a:extLst>
          </p:cNvPr>
          <p:cNvSpPr txBox="1"/>
          <p:nvPr/>
        </p:nvSpPr>
        <p:spPr>
          <a:xfrm>
            <a:off x="6376654" y="1866939"/>
            <a:ext cx="13887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22k hits</a:t>
            </a:r>
          </a:p>
        </p:txBody>
      </p:sp>
    </p:spTree>
    <p:extLst>
      <p:ext uri="{BB962C8B-B14F-4D97-AF65-F5344CB8AC3E}">
        <p14:creationId xmlns:p14="http://schemas.microsoft.com/office/powerpoint/2010/main" val="3986529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75DCC-8280-DC74-35D3-BF0431474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A78C-92A6-1316-2741-1558D2BE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Spectra in Bars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6B034-079E-2C95-3288-935AF19613A6}"/>
              </a:ext>
            </a:extLst>
          </p:cNvPr>
          <p:cNvSpPr txBox="1"/>
          <p:nvPr/>
        </p:nvSpPr>
        <p:spPr>
          <a:xfrm>
            <a:off x="4957134" y="112991"/>
            <a:ext cx="7234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Cuts: Tot &gt; 6ns , </a:t>
            </a:r>
            <a:r>
              <a:rPr lang="en-US" dirty="0" err="1"/>
              <a:t>Cdet-Ecal</a:t>
            </a:r>
            <a:r>
              <a:rPr lang="en-US" dirty="0"/>
              <a:t> </a:t>
            </a:r>
            <a:r>
              <a:rPr lang="en-US" dirty="0" err="1"/>
              <a:t>xdiff</a:t>
            </a:r>
            <a:r>
              <a:rPr lang="en-US" dirty="0"/>
              <a:t> within 10cm, raw rate &lt; module average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9BC036-D9D0-9803-1113-C85FCD6DFA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25727"/>
            <a:ext cx="6834148" cy="5432273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0E8FF7-4DF1-9AC2-B576-E919F340EF54}"/>
              </a:ext>
            </a:extLst>
          </p:cNvPr>
          <p:cNvSpPr txBox="1"/>
          <p:nvPr/>
        </p:nvSpPr>
        <p:spPr>
          <a:xfrm>
            <a:off x="6691997" y="1690688"/>
            <a:ext cx="4130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66k hits from 8.8M events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24AB09-8CA3-058D-A949-C6BE1076CDC6}"/>
              </a:ext>
            </a:extLst>
          </p:cNvPr>
          <p:cNvSpPr txBox="1"/>
          <p:nvPr/>
        </p:nvSpPr>
        <p:spPr>
          <a:xfrm>
            <a:off x="7765367" y="2382013"/>
            <a:ext cx="41773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Rate &lt; 0.175 module average)</a:t>
            </a:r>
          </a:p>
          <a:p>
            <a:r>
              <a:rPr lang="en-US" sz="2800" dirty="0"/>
              <a:t>Slight Bump at tot ~20-30ns?</a:t>
            </a:r>
          </a:p>
        </p:txBody>
      </p:sp>
    </p:spTree>
    <p:extLst>
      <p:ext uri="{BB962C8B-B14F-4D97-AF65-F5344CB8AC3E}">
        <p14:creationId xmlns:p14="http://schemas.microsoft.com/office/powerpoint/2010/main" val="1067418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D88EC-37B5-5EC4-29D5-25ED40FE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9CEB7-78D9-0610-5A51-2E3EAF8B7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Spectra in Bars (2ns bins)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F99D7D-2716-0240-28E4-91CEE34CEE70}"/>
              </a:ext>
            </a:extLst>
          </p:cNvPr>
          <p:cNvSpPr txBox="1"/>
          <p:nvPr/>
        </p:nvSpPr>
        <p:spPr>
          <a:xfrm>
            <a:off x="4957134" y="112991"/>
            <a:ext cx="7234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Cuts: Tot &gt; 6ns , </a:t>
            </a:r>
            <a:r>
              <a:rPr lang="en-US" dirty="0" err="1"/>
              <a:t>Cdet-Ecal</a:t>
            </a:r>
            <a:r>
              <a:rPr lang="en-US" dirty="0"/>
              <a:t> </a:t>
            </a:r>
            <a:r>
              <a:rPr lang="en-US" dirty="0" err="1"/>
              <a:t>xdiff</a:t>
            </a:r>
            <a:r>
              <a:rPr lang="en-US" dirty="0"/>
              <a:t> within 10cm, raw rate &lt; module average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FC9D68-32A6-9E57-B4D6-DE68AA492CE3}"/>
              </a:ext>
            </a:extLst>
          </p:cNvPr>
          <p:cNvSpPr txBox="1"/>
          <p:nvPr/>
        </p:nvSpPr>
        <p:spPr>
          <a:xfrm>
            <a:off x="6691997" y="1690688"/>
            <a:ext cx="47079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133k hits from 17.75M events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DFE27F-4157-F1F4-6D94-E34535CF63CE}"/>
              </a:ext>
            </a:extLst>
          </p:cNvPr>
          <p:cNvSpPr txBox="1"/>
          <p:nvPr/>
        </p:nvSpPr>
        <p:spPr>
          <a:xfrm>
            <a:off x="7765367" y="2382013"/>
            <a:ext cx="41773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Rate &lt; 0.175 module average)</a:t>
            </a:r>
          </a:p>
          <a:p>
            <a:r>
              <a:rPr lang="en-US" sz="2800" dirty="0"/>
              <a:t>Slight Bump at tot ~22-26ns?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1E5106-7843-17AB-B3B4-5FF1DCDC39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31" y="1591163"/>
            <a:ext cx="6482006" cy="5153845"/>
          </a:xfrm>
        </p:spPr>
      </p:pic>
    </p:spTree>
    <p:extLst>
      <p:ext uri="{BB962C8B-B14F-4D97-AF65-F5344CB8AC3E}">
        <p14:creationId xmlns:p14="http://schemas.microsoft.com/office/powerpoint/2010/main" val="3239729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6720-0EEE-E3C1-A7BC-6F8A99B17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8697E-4BFE-8835-9E03-F37366AC0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timing spectra plots but for run 3640</a:t>
            </a:r>
          </a:p>
          <a:p>
            <a:r>
              <a:rPr lang="en-US" dirty="0"/>
              <a:t>TOT spectra of individual pixels in bar 74</a:t>
            </a:r>
          </a:p>
          <a:p>
            <a:r>
              <a:rPr lang="en-US" dirty="0"/>
              <a:t>Look back through notes, find when LV was changed or HV off</a:t>
            </a:r>
          </a:p>
          <a:p>
            <a:r>
              <a:rPr lang="en-US" dirty="0"/>
              <a:t>Carbon Cross Target runs</a:t>
            </a:r>
          </a:p>
          <a:p>
            <a:r>
              <a:rPr lang="en-US" dirty="0"/>
              <a:t>Cut on </a:t>
            </a:r>
            <a:r>
              <a:rPr lang="en-US" dirty="0" err="1"/>
              <a:t>Ecal</a:t>
            </a:r>
            <a:r>
              <a:rPr lang="en-US"/>
              <a:t> Energy?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141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8F8F-7B27-D3B4-6535-00274951D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to get algorithm for rates in </a:t>
            </a:r>
            <a:r>
              <a:rPr lang="en-US" dirty="0" err="1"/>
              <a:t>ECal</a:t>
            </a:r>
            <a:r>
              <a:rPr lang="en-US" dirty="0"/>
              <a:t> correlated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D55A4-B415-42DF-B175-8A5922E5A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Each event:</a:t>
            </a:r>
          </a:p>
          <a:p>
            <a:pPr lvl="1"/>
            <a:r>
              <a:rPr lang="en-US" dirty="0"/>
              <a:t>Each layer &amp; side:</a:t>
            </a:r>
          </a:p>
          <a:p>
            <a:pPr lvl="2"/>
            <a:r>
              <a:rPr lang="en-US" dirty="0"/>
              <a:t>grab min &amp; max pixels that passed </a:t>
            </a:r>
            <a:r>
              <a:rPr lang="en-US" dirty="0" err="1"/>
              <a:t>xdiff</a:t>
            </a:r>
            <a:r>
              <a:rPr lang="en-US" dirty="0"/>
              <a:t> cut</a:t>
            </a:r>
          </a:p>
          <a:p>
            <a:pPr lvl="2"/>
            <a:r>
              <a:rPr lang="en-US" dirty="0"/>
              <a:t>if pixel id within +/- 8 of max &amp; min ,respectively:</a:t>
            </a:r>
          </a:p>
          <a:p>
            <a:pPr lvl="3"/>
            <a:r>
              <a:rPr lang="en-US" dirty="0"/>
              <a:t>Count as event for that set of pixels</a:t>
            </a:r>
          </a:p>
          <a:p>
            <a:pPr lvl="3"/>
            <a:endParaRPr lang="en-US" dirty="0"/>
          </a:p>
          <a:p>
            <a:r>
              <a:rPr lang="en-US" dirty="0"/>
              <a:t>Alternatively, grab pixel id in middle of min &amp; max, and then count event for all pixels within +/- 8 of the middle </a:t>
            </a:r>
            <a:r>
              <a:rPr lang="en-US" dirty="0">
                <a:sym typeface="Wingdings" pitchFamily="2" charset="2"/>
              </a:rPr>
              <a:t> This is probably better</a:t>
            </a:r>
          </a:p>
          <a:p>
            <a:r>
              <a:rPr lang="en-US" dirty="0">
                <a:sym typeface="Wingdings" pitchFamily="2" charset="2"/>
              </a:rPr>
              <a:t>Should I account for missing pixels?</a:t>
            </a:r>
          </a:p>
          <a:p>
            <a:r>
              <a:rPr lang="en-US" dirty="0">
                <a:sym typeface="Wingdings" pitchFamily="2" charset="2"/>
              </a:rPr>
              <a:t>I should add so it gets num pixels above/below average rate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095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5C97A-06A4-5604-095D-AAECA0534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Interesting hit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1818D-0754-3DA0-7AC1-C16F475EA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hit in event 10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hit passed pos cut in event 10 for pixel 1149</a:t>
            </a:r>
          </a:p>
          <a:p>
            <a:pPr marL="0" indent="0">
              <a:buNone/>
            </a:pPr>
            <a:r>
              <a:rPr lang="en-US" dirty="0"/>
              <a:t> le = 22.535 &amp; tot = 11.292 with </a:t>
            </a:r>
            <a:r>
              <a:rPr lang="en-US" dirty="0" err="1"/>
              <a:t>xdiff</a:t>
            </a:r>
            <a:r>
              <a:rPr lang="en-US" dirty="0"/>
              <a:t> = 0.00132148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496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817</Words>
  <Application>Microsoft Macintosh PowerPoint</Application>
  <PresentationFormat>Widescreen</PresentationFormat>
  <Paragraphs>157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Aptos Narrow</vt:lpstr>
      <vt:lpstr>Arial</vt:lpstr>
      <vt:lpstr>Cambria Math</vt:lpstr>
      <vt:lpstr>Wingdings</vt:lpstr>
      <vt:lpstr>Office Theme</vt:lpstr>
      <vt:lpstr>Feb 17th Update</vt:lpstr>
      <vt:lpstr>Raw Rates – Run 3640</vt:lpstr>
      <vt:lpstr>Raw Rates – Run 5811</vt:lpstr>
      <vt:lpstr>Raw Rates – Run 6077</vt:lpstr>
      <vt:lpstr>Raw Rates – Run 3640</vt:lpstr>
      <vt:lpstr>Raw Rates – Run 5811</vt:lpstr>
      <vt:lpstr>Raw Rates – Run 6077</vt:lpstr>
      <vt:lpstr>Summary of Raw Rates</vt:lpstr>
      <vt:lpstr>Timing Spectra in Bars</vt:lpstr>
      <vt:lpstr>Timing Spectra in Bars</vt:lpstr>
      <vt:lpstr>Timing Spectra in Bars</vt:lpstr>
      <vt:lpstr>Timing Spectra in Bars (2ns bins)</vt:lpstr>
      <vt:lpstr>Timing Spectra in Bars</vt:lpstr>
      <vt:lpstr>Timing Spectra in Bars (2ns bins)</vt:lpstr>
      <vt:lpstr>What next?</vt:lpstr>
      <vt:lpstr>Need to get algorithm for rates in ECal correlated events</vt:lpstr>
      <vt:lpstr>Interesting hit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Spaude, Ben</dc:creator>
  <cp:lastModifiedBy>Spaude, Ben</cp:lastModifiedBy>
  <cp:revision>76</cp:revision>
  <dcterms:created xsi:type="dcterms:W3CDTF">2026-02-11T17:41:30Z</dcterms:created>
  <dcterms:modified xsi:type="dcterms:W3CDTF">2026-02-17T17:49:10Z</dcterms:modified>
</cp:coreProperties>
</file>