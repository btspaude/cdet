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60" r:id="rId6"/>
    <p:sldId id="259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6"/>
    <p:restoredTop sz="94745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C8210-370D-EB40-8873-417E502B99B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86399-AE58-0846-8389-FF1D9AEFB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1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86399-AE58-0846-8389-FF1D9AEFB0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9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1772-5587-D20C-85AF-324A191B9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BA069-6BED-CEB0-DA76-73972E19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837-0ECB-3A38-77D5-CDAB8DB4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B3C59-7E47-5990-9546-6657F42C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B1AB-4157-78C7-54D0-500FC819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2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821F-2EB2-6656-33C8-7AC0CBEF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BD12-87F4-20FD-4314-1F65EA8F5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E21DF-3F4E-3F07-4B29-FFF3E90C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DE4C2-D6F2-F334-0E5A-1BE20647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4512-5755-CC6F-7E0B-1A7E140B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3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330A-5971-8792-A1E3-89307C5C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3B4AA-F897-56F0-0ED1-C6EE4B269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E531-AAC0-361A-3B6A-6B8E4FC0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5D4E-ECE5-8D32-29B5-135D7D69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4E272-13DA-42A1-4037-F3086FED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5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2E8C-073A-D2F6-6864-FFFC30BD1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C2F55-3BF5-F14A-370F-86D838591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B50AA-876A-45A7-1882-3ABB8887E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8916F-917C-85A6-7E0F-8648E6E7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BBAAF-4688-19E1-FA87-6C5E7A75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91A47-B81C-CEC4-AFBD-B4B25282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A2E6-40F8-4D71-9978-FA99B8C5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DFFF9-2BCD-12D4-E031-A13A220EB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96ACB-91C4-B8CB-2036-9215E49DA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BB4173-4B34-4A23-3D0F-2E5FE4357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33EF7-3817-7BD0-D393-F1C2A1D16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BC412-F0CA-18B2-1EDE-6CFEEC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858B5-B810-8C0F-7AE7-79A946A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1F778-970F-0F62-757F-639064AE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7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09F8-F7A2-8DA3-DE3B-6D73984A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E9543-20F1-66A1-7A3E-1BAA94A5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F2D80-C709-F816-9E0A-E94ECD8D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8DCE2-8682-2EE3-0C8C-C1C6A1F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3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0F13F-22D1-589C-24D6-8B42C469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74C23-7FB0-C5BD-BE2E-12BF5E2B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701F3-0C2C-429A-ADF2-4A3D6212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9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B6AF-CBF3-252D-C63A-9635902C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DCA2-5ED6-5289-3FE4-DE8C05F5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80DB8-5DF6-89C7-14D5-E74D8C41D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041E-382D-6802-6AB9-60536B1D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D2757-46B5-0299-4BA1-8F1F1ADF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1337-0F3A-C954-82BD-3290FF0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78BE-7D8D-8D85-A438-F74ED1E4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45444-660A-53E0-06A3-802BEA8BB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0620F-AF32-4675-F59C-C812FBF89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804F-0961-FB5B-0511-C61CE051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D771-35FD-1F21-BA7C-0CCC022A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45DB3-857F-71F8-393C-CBF90D0F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7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EFF0-7AFF-F49D-0C0F-4DBC213B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9F8B5-D90F-CCB6-E736-78FA3BE4E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B1AB-7E67-C4EA-5F3A-2043FA40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7233-C086-848F-CA7A-330754E2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0E36-3EFA-F4B8-F8BA-C3ED9639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832CF-1B40-EA26-7D63-C29B74CC5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E9010-DE9A-3B1C-7685-46060CF2A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4AE02-472E-4D8C-259F-88DA8EB4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F0CA2-0ED8-4DE9-6CB4-1E2C3062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FDF9-3210-40B3-7473-8A2F0139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ACE67-729C-D827-044C-1CA4364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0BCD5-2FEA-D1B4-6A0B-77CEC7FEF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505D-EB0E-A14C-2612-DF0BA7354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97704-B220-D94B-A98E-D5F624BB8E3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A090C-F7A8-9166-8D6A-86BE44C2C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E43D-69D0-912B-5E40-2604469C9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BCEB1-FB6E-1640-880E-D83D72FE2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2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1D41-2315-AD38-86E2-B3C79A5FC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 16 Update – </a:t>
            </a:r>
            <a:r>
              <a:rPr lang="en-US" dirty="0" err="1"/>
              <a:t>ECal</a:t>
            </a:r>
            <a:r>
              <a:rPr lang="en-US" dirty="0"/>
              <a:t>/</a:t>
            </a:r>
            <a:r>
              <a:rPr lang="en-US" dirty="0" err="1"/>
              <a:t>CDet</a:t>
            </a:r>
            <a:r>
              <a:rPr lang="en-US" dirty="0"/>
              <a:t> Timing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85AD7-D030-7ED8-3AC7-B00E18B12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25016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3CCF-DE56-D98C-98A0-D7423928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 Timing in Coordinate Detector</a:t>
            </a:r>
          </a:p>
        </p:txBody>
      </p:sp>
      <p:pic>
        <p:nvPicPr>
          <p:cNvPr id="4" name="Picture 3" descr="A blue graph with white text&#10;&#10;AI-generated content may be incorrect.">
            <a:extLst>
              <a:ext uri="{FF2B5EF4-FFF2-40B4-BE49-F238E27FC236}">
                <a16:creationId xmlns:a16="http://schemas.microsoft.com/office/drawing/2014/main" id="{3506AC86-A1B4-FCEE-5A1A-02011220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3" y="1690688"/>
            <a:ext cx="6145710" cy="4593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249439-F06D-C452-9E04-74469974C926}"/>
              </a:ext>
            </a:extLst>
          </p:cNvPr>
          <p:cNvSpPr txBox="1"/>
          <p:nvPr/>
        </p:nvSpPr>
        <p:spPr>
          <a:xfrm>
            <a:off x="6852213" y="3429000"/>
            <a:ext cx="5120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of hits across entire timing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Unclear where high energy electrons are</a:t>
            </a:r>
          </a:p>
        </p:txBody>
      </p:sp>
    </p:spTree>
    <p:extLst>
      <p:ext uri="{BB962C8B-B14F-4D97-AF65-F5344CB8AC3E}">
        <p14:creationId xmlns:p14="http://schemas.microsoft.com/office/powerpoint/2010/main" val="77369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FEF4-C951-2258-8EB7-DD5165B60F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57352" y="365125"/>
                <a:ext cx="11613931" cy="1325563"/>
              </a:xfrm>
            </p:spPr>
            <p:txBody>
              <a:bodyPr/>
              <a:lstStyle/>
              <a:p>
                <a:r>
                  <a:rPr lang="en-US" dirty="0"/>
                  <a:t>Run 5811-No </a:t>
                </a:r>
                <a:r>
                  <a:rPr lang="en-US" dirty="0" err="1"/>
                  <a:t>cdet</a:t>
                </a:r>
                <a:r>
                  <a:rPr lang="en-US" dirty="0"/>
                  <a:t> le/tot timing cuts, |</a:t>
                </a:r>
                <a:r>
                  <a:rPr lang="en-US" dirty="0" err="1"/>
                  <a:t>xdiff</a:t>
                </a:r>
                <a:r>
                  <a:rPr lang="en-US" dirty="0"/>
                  <a:t>|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16cm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FEF4-C951-2258-8EB7-DD5165B60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57352" y="365125"/>
                <a:ext cx="11613931" cy="1325563"/>
              </a:xfrm>
              <a:blipFill>
                <a:blip r:embed="rId2"/>
                <a:stretch>
                  <a:fillRect l="-2186" r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63310-3F28-2308-E54C-C6D829D1F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Cdet paddle height = 0.5cm</a:t>
                </a:r>
              </a:p>
              <a:p>
                <a:r>
                  <a:rPr lang="en-US" dirty="0"/>
                  <a:t>16cm </a:t>
                </a:r>
                <a:r>
                  <a:rPr lang="en-US" dirty="0" err="1"/>
                  <a:t>xdiff</a:t>
                </a:r>
                <a:r>
                  <a:rPr lang="en-US" dirty="0"/>
                  <a:t> -&gt;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/>
                  <a:t>32 paddles from central hit (~2 bars)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𝐶𝐷𝑒𝑡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𝐶𝐷𝑒𝑡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𝐸𝐶𝑎𝑙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𝐸𝐶𝑎𝑙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𝐶𝐷𝑒𝑡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𝐸𝐶𝑎𝑙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𝐶𝐷𝑒𝑡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𝐸𝐶𝑎𝑙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63310-3F28-2308-E54C-C6D829D1F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826CDE-6801-22AA-1C93-C31A9786FFB2}"/>
              </a:ext>
            </a:extLst>
          </p:cNvPr>
          <p:cNvCxnSpPr>
            <a:cxnSpLocks/>
          </p:cNvCxnSpPr>
          <p:nvPr/>
        </p:nvCxnSpPr>
        <p:spPr>
          <a:xfrm flipH="1">
            <a:off x="1183481" y="4001294"/>
            <a:ext cx="9825037" cy="13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960DCD-9D17-716B-CFA2-F9A315E73B23}"/>
              </a:ext>
            </a:extLst>
          </p:cNvPr>
          <p:cNvCxnSpPr>
            <a:cxnSpLocks/>
          </p:cNvCxnSpPr>
          <p:nvPr/>
        </p:nvCxnSpPr>
        <p:spPr>
          <a:xfrm flipH="1">
            <a:off x="1183481" y="4014788"/>
            <a:ext cx="9825037" cy="1042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C85331-B431-B50C-6BCA-A2E87F9EFD61}"/>
              </a:ext>
            </a:extLst>
          </p:cNvPr>
          <p:cNvCxnSpPr>
            <a:cxnSpLocks/>
          </p:cNvCxnSpPr>
          <p:nvPr/>
        </p:nvCxnSpPr>
        <p:spPr>
          <a:xfrm>
            <a:off x="1183481" y="4001294"/>
            <a:ext cx="0" cy="1056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17611D-D971-C399-0F9F-FC218049E2BC}"/>
              </a:ext>
            </a:extLst>
          </p:cNvPr>
          <p:cNvCxnSpPr>
            <a:cxnSpLocks/>
          </p:cNvCxnSpPr>
          <p:nvPr/>
        </p:nvCxnSpPr>
        <p:spPr>
          <a:xfrm>
            <a:off x="3564731" y="4001293"/>
            <a:ext cx="0" cy="785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0F5DA1-E548-0045-AF7C-D86AF16366A0}"/>
              </a:ext>
            </a:extLst>
          </p:cNvPr>
          <p:cNvSpPr txBox="1"/>
          <p:nvPr/>
        </p:nvSpPr>
        <p:spPr>
          <a:xfrm>
            <a:off x="856628" y="3564494"/>
            <a:ext cx="653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ECal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0F34C-5CC6-E11D-DFAD-B42B5146EFF8}"/>
              </a:ext>
            </a:extLst>
          </p:cNvPr>
          <p:cNvSpPr txBox="1"/>
          <p:nvPr/>
        </p:nvSpPr>
        <p:spPr>
          <a:xfrm>
            <a:off x="3214314" y="3645456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CDet</a:t>
            </a:r>
            <a:endParaRPr lang="en-US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8F63504-346E-6891-CCCA-0220570EAB57}"/>
              </a:ext>
            </a:extLst>
          </p:cNvPr>
          <p:cNvSpPr/>
          <p:nvPr/>
        </p:nvSpPr>
        <p:spPr>
          <a:xfrm>
            <a:off x="7457956" y="4001293"/>
            <a:ext cx="176517" cy="414337"/>
          </a:xfrm>
          <a:custGeom>
            <a:avLst/>
            <a:gdLst>
              <a:gd name="csX0" fmla="*/ 62217 w 176517"/>
              <a:gd name="csY0" fmla="*/ 0 h 414337"/>
              <a:gd name="csX1" fmla="*/ 5067 w 176517"/>
              <a:gd name="csY1" fmla="*/ 242887 h 414337"/>
              <a:gd name="csX2" fmla="*/ 176517 w 176517"/>
              <a:gd name="csY2" fmla="*/ 414337 h 414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517" h="414337">
                <a:moveTo>
                  <a:pt x="62217" y="0"/>
                </a:moveTo>
                <a:cubicBezTo>
                  <a:pt x="24117" y="86915"/>
                  <a:pt x="-13983" y="173831"/>
                  <a:pt x="5067" y="242887"/>
                </a:cubicBezTo>
                <a:cubicBezTo>
                  <a:pt x="24117" y="311943"/>
                  <a:pt x="133655" y="376237"/>
                  <a:pt x="176517" y="41433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36F8D1-0529-F05E-2AFA-57ACDCEB669C}"/>
                  </a:ext>
                </a:extLst>
              </p:cNvPr>
              <p:cNvSpPr txBox="1"/>
              <p:nvPr/>
            </p:nvSpPr>
            <p:spPr>
              <a:xfrm>
                <a:off x="7081955" y="4028282"/>
                <a:ext cx="376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36F8D1-0529-F05E-2AFA-57ACDCEB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955" y="4028282"/>
                <a:ext cx="3760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B675FE-C561-258B-8FDA-F2C8A2CB64D6}"/>
              </a:ext>
            </a:extLst>
          </p:cNvPr>
          <p:cNvCxnSpPr>
            <a:cxnSpLocks/>
          </p:cNvCxnSpPr>
          <p:nvPr/>
        </p:nvCxnSpPr>
        <p:spPr>
          <a:xfrm>
            <a:off x="11087100" y="329196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1CB7DC-15B5-96E6-78B6-5905C33CFF94}"/>
              </a:ext>
            </a:extLst>
          </p:cNvPr>
          <p:cNvCxnSpPr>
            <a:cxnSpLocks/>
          </p:cNvCxnSpPr>
          <p:nvPr/>
        </p:nvCxnSpPr>
        <p:spPr>
          <a:xfrm flipH="1">
            <a:off x="10629900" y="329196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4A63F21-B57C-B1E3-67D9-324D27075A3B}"/>
              </a:ext>
            </a:extLst>
          </p:cNvPr>
          <p:cNvSpPr txBox="1"/>
          <p:nvPr/>
        </p:nvSpPr>
        <p:spPr>
          <a:xfrm>
            <a:off x="11087100" y="333589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EFD7F2-D7DA-FF3B-A41A-36DEF3444D08}"/>
              </a:ext>
            </a:extLst>
          </p:cNvPr>
          <p:cNvSpPr txBox="1"/>
          <p:nvPr/>
        </p:nvSpPr>
        <p:spPr>
          <a:xfrm>
            <a:off x="10787062" y="297235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D1B873-9F83-BA9F-12AD-7069F68CD394}"/>
                  </a:ext>
                </a:extLst>
              </p:cNvPr>
              <p:cNvSpPr txBox="1"/>
              <p:nvPr/>
            </p:nvSpPr>
            <p:spPr>
              <a:xfrm>
                <a:off x="3522239" y="4215884"/>
                <a:ext cx="754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𝐶𝐷𝑒𝑡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D1B873-9F83-BA9F-12AD-7069F68CD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239" y="4215884"/>
                <a:ext cx="7543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640A6F-8809-BF9C-CB43-894C6ACAA2DD}"/>
                  </a:ext>
                </a:extLst>
              </p:cNvPr>
              <p:cNvSpPr txBox="1"/>
              <p:nvPr/>
            </p:nvSpPr>
            <p:spPr>
              <a:xfrm>
                <a:off x="1133178" y="4230964"/>
                <a:ext cx="742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𝐸𝐶𝑎𝑙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0640A6F-8809-BF9C-CB43-894C6ACAA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178" y="4230964"/>
                <a:ext cx="7427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99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A94C-52D8-5F9A-C44F-7CACA439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Good </a:t>
            </a:r>
            <a:r>
              <a:rPr lang="en-US" dirty="0" err="1"/>
              <a:t>Adctime</a:t>
            </a:r>
            <a:r>
              <a:rPr lang="en-US" dirty="0"/>
              <a:t> vs </a:t>
            </a:r>
            <a:r>
              <a:rPr lang="en-US" dirty="0" err="1"/>
              <a:t>Cdet</a:t>
            </a:r>
            <a:r>
              <a:rPr lang="en-US" dirty="0"/>
              <a:t> LE time</a:t>
            </a:r>
          </a:p>
        </p:txBody>
      </p:sp>
      <p:pic>
        <p:nvPicPr>
          <p:cNvPr id="4" name="Picture 3" descr="A graph showing a chart&#10;&#10;AI-generated content may be incorrect.">
            <a:extLst>
              <a:ext uri="{FF2B5EF4-FFF2-40B4-BE49-F238E27FC236}">
                <a16:creationId xmlns:a16="http://schemas.microsoft.com/office/drawing/2014/main" id="{0453239D-A3F8-278C-ABA9-DB0EBB18F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38188"/>
            <a:ext cx="5905539" cy="4437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341802-CFD2-2FBD-5B1D-537B3DD549BA}"/>
              </a:ext>
            </a:extLst>
          </p:cNvPr>
          <p:cNvSpPr txBox="1"/>
          <p:nvPr/>
        </p:nvSpPr>
        <p:spPr>
          <a:xfrm>
            <a:off x="8331544" y="3961868"/>
            <a:ext cx="2909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diff between 80-100ns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BEF27-B270-FA0B-27AC-329D407E4965}"/>
              </a:ext>
            </a:extLst>
          </p:cNvPr>
          <p:cNvSpPr txBox="1"/>
          <p:nvPr/>
        </p:nvSpPr>
        <p:spPr>
          <a:xfrm>
            <a:off x="838200" y="6123543"/>
            <a:ext cx="250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~31 </a:t>
            </a:r>
            <a:r>
              <a:rPr lang="en-US" dirty="0" err="1"/>
              <a:t>CDet</a:t>
            </a:r>
            <a:r>
              <a:rPr lang="en-US" dirty="0"/>
              <a:t> hits per event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7875F0-A799-88D9-5C9B-F193D3D4B427}"/>
              </a:ext>
            </a:extLst>
          </p:cNvPr>
          <p:cNvSpPr txBox="1"/>
          <p:nvPr/>
        </p:nvSpPr>
        <p:spPr>
          <a:xfrm>
            <a:off x="8383458" y="6123543"/>
            <a:ext cx="234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~8 </a:t>
            </a:r>
            <a:r>
              <a:rPr lang="en-US" dirty="0" err="1"/>
              <a:t>Cdet</a:t>
            </a:r>
            <a:r>
              <a:rPr lang="en-US" dirty="0"/>
              <a:t> hits per event</a:t>
            </a:r>
          </a:p>
        </p:txBody>
      </p:sp>
      <p:pic>
        <p:nvPicPr>
          <p:cNvPr id="14" name="Picture 13" descr="A screen shot of a graph&#10;&#10;AI-generated content may be incorrect.">
            <a:extLst>
              <a:ext uri="{FF2B5EF4-FFF2-40B4-BE49-F238E27FC236}">
                <a16:creationId xmlns:a16="http://schemas.microsoft.com/office/drawing/2014/main" id="{982806DD-3416-B1CB-D668-88526C10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26"/>
          <a:stretch>
            <a:fillRect/>
          </a:stretch>
        </p:blipFill>
        <p:spPr>
          <a:xfrm>
            <a:off x="0" y="1591288"/>
            <a:ext cx="6001613" cy="443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1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9784-F107-6D65-4219-FEB6B9DE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Diff vs Counts</a:t>
            </a:r>
          </a:p>
        </p:txBody>
      </p:sp>
      <p:pic>
        <p:nvPicPr>
          <p:cNvPr id="4" name="Picture 3" descr="A graph of a diagram&#10;&#10;AI-generated content may be incorrect.">
            <a:extLst>
              <a:ext uri="{FF2B5EF4-FFF2-40B4-BE49-F238E27FC236}">
                <a16:creationId xmlns:a16="http://schemas.microsoft.com/office/drawing/2014/main" id="{D72BE374-A2CD-1F92-5A95-7C5CE180A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6890004" cy="5175192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97F6B254-3708-397B-8463-FD580AF3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62100"/>
            <a:ext cx="6890004" cy="5175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6D4A5-8DE0-DDAF-F2BB-4DD2314AC159}"/>
              </a:ext>
            </a:extLst>
          </p:cNvPr>
          <p:cNvSpPr txBox="1"/>
          <p:nvPr/>
        </p:nvSpPr>
        <p:spPr>
          <a:xfrm>
            <a:off x="7728204" y="2887663"/>
            <a:ext cx="4273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slight bump around 85ns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WIP: Fitting with Gaussian and subtracting off from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Should show bump in data more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same histogram for uncorrelated hits (</a:t>
            </a:r>
            <a:r>
              <a:rPr lang="en-US" dirty="0" err="1"/>
              <a:t>i.e</a:t>
            </a:r>
            <a:r>
              <a:rPr lang="en-US" dirty="0"/>
              <a:t> outside </a:t>
            </a:r>
            <a:r>
              <a:rPr lang="en-US" dirty="0" err="1"/>
              <a:t>xdiff</a:t>
            </a:r>
            <a:r>
              <a:rPr lang="en-US" dirty="0"/>
              <a:t> cut)</a:t>
            </a:r>
          </a:p>
        </p:txBody>
      </p:sp>
    </p:spTree>
    <p:extLst>
      <p:ext uri="{BB962C8B-B14F-4D97-AF65-F5344CB8AC3E}">
        <p14:creationId xmlns:p14="http://schemas.microsoft.com/office/powerpoint/2010/main" val="331519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3D73-D094-7A09-EA9E-CA3DF9DB4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ECal-CDet</a:t>
            </a:r>
            <a:r>
              <a:rPr lang="en-US" dirty="0"/>
              <a:t> Time vs </a:t>
            </a:r>
            <a:r>
              <a:rPr lang="en-US" dirty="0" err="1"/>
              <a:t>CDet</a:t>
            </a:r>
            <a:r>
              <a:rPr lang="en-US" dirty="0"/>
              <a:t> LE &amp; TOT</a:t>
            </a:r>
          </a:p>
        </p:txBody>
      </p:sp>
      <p:pic>
        <p:nvPicPr>
          <p:cNvPr id="8" name="Content Placeholder 7" descr="A comparison of a blue and yellow line&#10;&#10;AI-generated content may be incorrect.">
            <a:extLst>
              <a:ext uri="{FF2B5EF4-FFF2-40B4-BE49-F238E27FC236}">
                <a16:creationId xmlns:a16="http://schemas.microsoft.com/office/drawing/2014/main" id="{02093396-0CE6-E641-6196-1EB79702E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53" y="1615418"/>
            <a:ext cx="5780038" cy="4351338"/>
          </a:xfr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C46E7673-CBC4-B22F-C8B6-1A3C7045E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591" y="1615418"/>
            <a:ext cx="6011589" cy="453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1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EF75-D8C8-F7EA-33C3-CFFFB174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LE Time</a:t>
            </a:r>
          </a:p>
        </p:txBody>
      </p:sp>
      <p:pic>
        <p:nvPicPr>
          <p:cNvPr id="5" name="Picture 4" descr="A blue graph with white text&#10;&#10;AI-generated content may be incorrect.">
            <a:extLst>
              <a:ext uri="{FF2B5EF4-FFF2-40B4-BE49-F238E27FC236}">
                <a16:creationId xmlns:a16="http://schemas.microsoft.com/office/drawing/2014/main" id="{C2092763-A8D6-D6A8-34AF-17F8507D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8035"/>
            <a:ext cx="5899587" cy="4421390"/>
          </a:xfrm>
          <a:prstGeom prst="rect">
            <a:avLst/>
          </a:prstGeom>
        </p:spPr>
      </p:pic>
      <p:pic>
        <p:nvPicPr>
          <p:cNvPr id="7" name="Picture 6" descr="A blue graph with white text&#10;&#10;AI-generated content may be incorrect.">
            <a:extLst>
              <a:ext uri="{FF2B5EF4-FFF2-40B4-BE49-F238E27FC236}">
                <a16:creationId xmlns:a16="http://schemas.microsoft.com/office/drawing/2014/main" id="{DDC0683C-AF48-5992-9260-42FB94DF2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3" y="1865381"/>
            <a:ext cx="5798161" cy="4334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60D361-D2C4-7609-42CE-F73DA9924BBD}"/>
              </a:ext>
            </a:extLst>
          </p:cNvPr>
          <p:cNvSpPr txBox="1"/>
          <p:nvPr/>
        </p:nvSpPr>
        <p:spPr>
          <a:xfrm>
            <a:off x="3472405" y="1778034"/>
            <a:ext cx="1387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(no </a:t>
            </a:r>
            <a:r>
              <a:rPr lang="en-US" dirty="0" err="1"/>
              <a:t>tdiff</a:t>
            </a:r>
            <a:r>
              <a:rPr lang="en-US" dirty="0"/>
              <a:t> cut)</a:t>
            </a:r>
          </a:p>
        </p:txBody>
      </p:sp>
    </p:spTree>
    <p:extLst>
      <p:ext uri="{BB962C8B-B14F-4D97-AF65-F5344CB8AC3E}">
        <p14:creationId xmlns:p14="http://schemas.microsoft.com/office/powerpoint/2010/main" val="268197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7FA9-07BA-CE1E-D5EC-2B56437E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position correlation</a:t>
            </a:r>
          </a:p>
        </p:txBody>
      </p:sp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A77956CA-2FE5-D85C-9125-B631E47A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416" y="1851948"/>
            <a:ext cx="5637191" cy="4254721"/>
          </a:xfrm>
          <a:prstGeom prst="rect">
            <a:avLst/>
          </a:prstGeom>
        </p:spPr>
      </p:pic>
      <p:pic>
        <p:nvPicPr>
          <p:cNvPr id="17" name="Picture 16" descr="A graph of a graph&#10;&#10;AI-generated content may be incorrect.">
            <a:extLst>
              <a:ext uri="{FF2B5EF4-FFF2-40B4-BE49-F238E27FC236}">
                <a16:creationId xmlns:a16="http://schemas.microsoft.com/office/drawing/2014/main" id="{466241C5-5BA7-1944-7F58-77BF8672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70" y="1664381"/>
            <a:ext cx="5874430" cy="44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8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A515-F7BB-4981-085E-09A32FAA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Difference Plots</a:t>
            </a:r>
          </a:p>
        </p:txBody>
      </p:sp>
      <p:pic>
        <p:nvPicPr>
          <p:cNvPr id="5" name="Picture 4" descr="A graph of a city&#10;&#10;AI-generated content may be incorrect.">
            <a:extLst>
              <a:ext uri="{FF2B5EF4-FFF2-40B4-BE49-F238E27FC236}">
                <a16:creationId xmlns:a16="http://schemas.microsoft.com/office/drawing/2014/main" id="{C28CD4A8-9B98-0A50-6F29-A3626B70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63" y="1909823"/>
            <a:ext cx="5176221" cy="3908220"/>
          </a:xfrm>
          <a:prstGeom prst="rect">
            <a:avLst/>
          </a:prstGeom>
        </p:spPr>
      </p:pic>
      <p:pic>
        <p:nvPicPr>
          <p:cNvPr id="7" name="Picture 6" descr="A graph of a building&#10;&#10;AI-generated content may be incorrect.">
            <a:extLst>
              <a:ext uri="{FF2B5EF4-FFF2-40B4-BE49-F238E27FC236}">
                <a16:creationId xmlns:a16="http://schemas.microsoft.com/office/drawing/2014/main" id="{E193203E-37A9-711F-E31B-85D746EC8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79" y="1909823"/>
            <a:ext cx="5613723" cy="426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11457</TotalTime>
  <Words>159</Words>
  <Application>Microsoft Macintosh PowerPoint</Application>
  <PresentationFormat>Widescreen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Dec 16 Update – ECal/CDet Timing Comparison</vt:lpstr>
      <vt:lpstr>LE Timing in Coordinate Detector</vt:lpstr>
      <vt:lpstr>Run 5811-No cdet le/tot timing cuts, |xdiff| ≤16cm</vt:lpstr>
      <vt:lpstr>Ecal Good Adctime vs Cdet LE time</vt:lpstr>
      <vt:lpstr>Time Diff vs Counts</vt:lpstr>
      <vt:lpstr>ECal-CDet Time vs CDet LE &amp; TOT</vt:lpstr>
      <vt:lpstr>CDet LE Time</vt:lpstr>
      <vt:lpstr>X position correlation</vt:lpstr>
      <vt:lpstr>X Difference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29</cp:revision>
  <dcterms:created xsi:type="dcterms:W3CDTF">2025-12-05T16:50:07Z</dcterms:created>
  <dcterms:modified xsi:type="dcterms:W3CDTF">2025-12-17T18:24:16Z</dcterms:modified>
</cp:coreProperties>
</file>