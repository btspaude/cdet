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5"/>
    <p:restoredTop sz="94689"/>
  </p:normalViewPr>
  <p:slideViewPr>
    <p:cSldViewPr snapToGrid="0">
      <p:cViewPr varScale="1">
        <p:scale>
          <a:sx n="147" d="100"/>
          <a:sy n="147" d="100"/>
        </p:scale>
        <p:origin x="5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232B-A1DC-014B-4C6F-838BD54C3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11E14-F44F-8A3A-91B5-0C7BDAA6D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9961D-2C59-538C-2BF1-68111E3E9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9C20-2B24-ED41-BA52-A79A73157AE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7152F-77E9-76B1-E5CE-AAD0F766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5E7BA-97F8-4513-C5C6-433FBF4B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6F50-CD6E-4E45-839B-EFDB3F2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21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5F7B-23D7-B0CC-ACA3-7EE0F08E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D01E6-C244-8DE3-61B0-BAB1CA564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CD8BF-56CD-857A-D39C-46AE386D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9C20-2B24-ED41-BA52-A79A73157AE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B704B-DDAB-51B9-E805-F6F7ADE1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13129-7D6B-0089-B8CD-DB479166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6F50-CD6E-4E45-839B-EFDB3F2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9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1CD9-ACD6-C6AE-3CEF-1DB1B3871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F4FF0-0C4B-1163-536F-C6672A496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C77F9-4C17-ACE7-5910-01050499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9C20-2B24-ED41-BA52-A79A73157AE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50EB3-4AA7-2A38-2584-B5CD69CE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A366-216B-C794-104F-5C74FB11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6F50-CD6E-4E45-839B-EFDB3F2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68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BDD5-9998-CE69-EC2A-0A800727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94212-30F7-EC78-9AB2-59D31F171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C8894-03B0-3A63-C9CE-26F768534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4FD27-5EC7-858A-357E-D1E4E5F72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9C20-2B24-ED41-BA52-A79A73157AE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502A4-258F-D0A6-526F-5D18C0C8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741A3-0D77-1A92-9B54-89FF92D89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6F50-CD6E-4E45-839B-EFDB3F2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5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6C83E-8716-AD06-D454-B9F8141E0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03D02-FE1A-49F3-F435-94DF28307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16BA0-1FB1-32D3-02A7-1E1D0CA7E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46E42F-3691-D3D3-CB28-B2D1F057B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B155B-BDA4-06EB-4BE0-0D83EA6A0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19137D-ADB7-E3FD-23FF-80720D5F7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9C20-2B24-ED41-BA52-A79A73157AE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73B273-0287-E427-979C-215873743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71BB9E-73A0-9CD2-08FF-7C87BFA2F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6F50-CD6E-4E45-839B-EFDB3F2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80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EF11-2085-C818-EE93-15290914B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AE325-83D5-B712-4D62-15AAADCA9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9C20-2B24-ED41-BA52-A79A73157AE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60672E-3419-7934-8833-38B159881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4E8FB-6BB5-83AB-421E-64BF161F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6F50-CD6E-4E45-839B-EFDB3F2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3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756D9-8FD9-5B43-C9C9-40C1A6B0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9C20-2B24-ED41-BA52-A79A73157AE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4BD45C-927F-51BF-4FB3-3ED3499E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E26A5-075B-317D-91BE-3618B684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6F50-CD6E-4E45-839B-EFDB3F2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71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AECE-97D1-41B2-9F81-28663536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6B43F-0960-76CF-0314-84DD1BE0B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8DFFF-61AE-F2D2-3296-A9644FA1B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5862E-ABE8-1BAE-8457-B572B6CE8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9C20-2B24-ED41-BA52-A79A73157AE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62207-2F9B-B6CA-FE8C-8C506D0C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FA9E7-474B-C90A-EFFA-F68CDE4D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6F50-CD6E-4E45-839B-EFDB3F2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9612D-E8A7-5B48-2006-80367A94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4ADAD-09DF-EC8C-9EDA-75DC049B92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4509B-41DE-5E08-CCE2-C37D97694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513E0-AF54-D1AE-3F61-63AAA0F30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9C20-2B24-ED41-BA52-A79A73157AE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BCC4A-E154-3A3D-A3F4-BBA350ED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A81CF-F501-EC21-3B92-2E0ED1325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6F50-CD6E-4E45-839B-EFDB3F2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0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EC5E-441C-D03A-81F8-07EA68416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3E9C3-E49B-053E-CE68-59307C375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42D9-F87F-51F1-5DEB-2466C508E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9C20-2B24-ED41-BA52-A79A73157AE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ECA25-BD61-8F9C-4A86-52875A4E8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3780-858F-109B-5598-7A3AF170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6F50-CD6E-4E45-839B-EFDB3F2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9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E91606-255F-A3F4-B085-9F686F9ECC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8491A-03D6-012E-6883-FEA3E4768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E0F31-6A0B-1E9D-8596-D685F6071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9C20-2B24-ED41-BA52-A79A73157AE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B6A30-AC94-C17E-E776-EA3BA862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53A9-3024-4303-AA69-1F4EFCA8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96F50-CD6E-4E45-839B-EFDB3F2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17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BE9A20-AD9F-0411-8E58-D2A44A13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B83A9-B1E9-243C-30F5-119EC462A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792F9-7164-A0E3-6EA4-A6A4C2815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79C20-2B24-ED41-BA52-A79A73157AE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F27F7-8522-5A72-4B50-766F9A6C9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D1EFF-01B8-B84C-BF9A-1A4D4298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96F50-CD6E-4E45-839B-EFDB3F2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4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01ED-3C73-EB49-F29F-A4D868B9F9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CDet</a:t>
            </a:r>
            <a:r>
              <a:rPr lang="en-US" dirty="0"/>
              <a:t>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F324E-3012-43AF-984B-EE8390C8D0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June 16, 2025</a:t>
            </a:r>
          </a:p>
        </p:txBody>
      </p:sp>
    </p:spTree>
    <p:extLst>
      <p:ext uri="{BB962C8B-B14F-4D97-AF65-F5344CB8AC3E}">
        <p14:creationId xmlns:p14="http://schemas.microsoft.com/office/powerpoint/2010/main" val="290186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6A3AB-CF61-784B-44D1-C8ACE84D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CDet</a:t>
            </a:r>
            <a:r>
              <a:rPr lang="en-US" dirty="0"/>
              <a:t> Readout/Detector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D53C2-8248-E9DA-2272-092ABEFE0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49983" cy="50323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Latency = 3216 ns, Window = 52 ns</a:t>
            </a:r>
          </a:p>
          <a:p>
            <a:r>
              <a:rPr lang="en-US" dirty="0"/>
              <a:t>Clear peak in timing spectra – established at low current running</a:t>
            </a:r>
          </a:p>
          <a:p>
            <a:r>
              <a:rPr lang="en-US" dirty="0"/>
              <a:t>Using trigger reference signal in additional </a:t>
            </a:r>
            <a:r>
              <a:rPr lang="en-US" dirty="0" err="1"/>
              <a:t>vfTDC</a:t>
            </a:r>
            <a:r>
              <a:rPr lang="en-US" dirty="0"/>
              <a:t> module – reasonable </a:t>
            </a:r>
            <a:r>
              <a:rPr lang="en-US" dirty="0" err="1"/>
              <a:t>vtTDC</a:t>
            </a:r>
            <a:r>
              <a:rPr lang="en-US" dirty="0"/>
              <a:t> timing calibration achieved; resolution ~10’s of </a:t>
            </a:r>
            <a:r>
              <a:rPr lang="en-US" dirty="0" err="1"/>
              <a:t>ps</a:t>
            </a:r>
            <a:r>
              <a:rPr lang="en-US" dirty="0"/>
              <a:t> (still work in progress)</a:t>
            </a:r>
          </a:p>
          <a:p>
            <a:r>
              <a:rPr lang="en-US" dirty="0"/>
              <a:t>Updated </a:t>
            </a:r>
            <a:r>
              <a:rPr lang="en-US" dirty="0" err="1"/>
              <a:t>vfTDC</a:t>
            </a:r>
            <a:r>
              <a:rPr lang="en-US" dirty="0"/>
              <a:t> firmware to use block readout to solve deadtime/</a:t>
            </a:r>
            <a:r>
              <a:rPr lang="en-US" dirty="0" err="1"/>
              <a:t>livetime</a:t>
            </a:r>
            <a:r>
              <a:rPr lang="en-US" dirty="0"/>
              <a:t> issues</a:t>
            </a:r>
          </a:p>
          <a:p>
            <a:r>
              <a:rPr lang="en-US" dirty="0"/>
              <a:t>Reasonable HV/threshold values determined with HV scan at lower currents (still a few ”missing” bars at upper edge of second layer of </a:t>
            </a:r>
            <a:r>
              <a:rPr lang="en-US" dirty="0" err="1"/>
              <a:t>CDet</a:t>
            </a:r>
            <a:r>
              <a:rPr lang="en-US" dirty="0"/>
              <a:t>, as well as a few “hot” bars that have HV disabled)</a:t>
            </a:r>
          </a:p>
        </p:txBody>
      </p:sp>
      <p:pic>
        <p:nvPicPr>
          <p:cNvPr id="5" name="Picture 4" descr="A red graph with black lines&#10;&#10;AI-generated content may be incorrect.">
            <a:extLst>
              <a:ext uri="{FF2B5EF4-FFF2-40B4-BE49-F238E27FC236}">
                <a16:creationId xmlns:a16="http://schemas.microsoft.com/office/drawing/2014/main" id="{6978BDAF-5826-EF2F-8618-A7DAC458E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832" y="1236026"/>
            <a:ext cx="4782065" cy="2288768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BF1A609C-38B8-CD40-72BF-AF7538252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314" y="3886199"/>
            <a:ext cx="2842230" cy="28986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87CE52-36C1-2A1F-E4A9-B32DD61C4502}"/>
              </a:ext>
            </a:extLst>
          </p:cNvPr>
          <p:cNvSpPr txBox="1"/>
          <p:nvPr/>
        </p:nvSpPr>
        <p:spPr>
          <a:xfrm>
            <a:off x="10478588" y="3305889"/>
            <a:ext cx="20965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LE Time (ns)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D8AA1-CB15-A0C2-04E7-346A904F1914}"/>
              </a:ext>
            </a:extLst>
          </p:cNvPr>
          <p:cNvSpPr txBox="1"/>
          <p:nvPr/>
        </p:nvSpPr>
        <p:spPr>
          <a:xfrm>
            <a:off x="7940273" y="3575885"/>
            <a:ext cx="2771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Hit Rates for All </a:t>
            </a:r>
            <a:r>
              <a:rPr lang="en-US" dirty="0" err="1"/>
              <a:t>CDet</a:t>
            </a:r>
            <a:r>
              <a:rPr lang="en-US" dirty="0"/>
              <a:t> Bars</a:t>
            </a:r>
          </a:p>
        </p:txBody>
      </p:sp>
    </p:spTree>
    <p:extLst>
      <p:ext uri="{BB962C8B-B14F-4D97-AF65-F5344CB8AC3E}">
        <p14:creationId xmlns:p14="http://schemas.microsoft.com/office/powerpoint/2010/main" val="4160639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9AF4-FD04-9856-08D2-7E5689AB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ECal</a:t>
            </a:r>
            <a:r>
              <a:rPr lang="en-US" dirty="0"/>
              <a:t> Position Correlations</a:t>
            </a:r>
          </a:p>
        </p:txBody>
      </p:sp>
      <p:pic>
        <p:nvPicPr>
          <p:cNvPr id="7" name="Content Placeholder 6" descr="A close-up of a graph&#10;&#10;AI-generated content may be incorrect.">
            <a:extLst>
              <a:ext uri="{FF2B5EF4-FFF2-40B4-BE49-F238E27FC236}">
                <a16:creationId xmlns:a16="http://schemas.microsoft.com/office/drawing/2014/main" id="{CE570F3A-A085-8C00-78A4-29D3F1C93E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9570" y="1221445"/>
            <a:ext cx="6742430" cy="2567735"/>
          </a:xfrm>
        </p:spPr>
      </p:pic>
      <p:pic>
        <p:nvPicPr>
          <p:cNvPr id="9" name="Picture 8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F764FE34-51FB-0239-1632-C463365BC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295" y="3599179"/>
            <a:ext cx="6742430" cy="31325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5FF0F7-D08E-17DE-C7D0-CDF57F19EF69}"/>
              </a:ext>
            </a:extLst>
          </p:cNvPr>
          <p:cNvSpPr txBox="1"/>
          <p:nvPr/>
        </p:nvSpPr>
        <p:spPr>
          <a:xfrm>
            <a:off x="653143" y="1445623"/>
            <a:ext cx="43978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Observe clear correlation between </a:t>
            </a:r>
            <a:r>
              <a:rPr lang="en-US" dirty="0" err="1"/>
              <a:t>CDet</a:t>
            </a:r>
            <a:r>
              <a:rPr lang="en-US" dirty="0"/>
              <a:t> X-position of hit paddle and determined </a:t>
            </a:r>
            <a:r>
              <a:rPr lang="en-US" dirty="0" err="1"/>
              <a:t>ECal</a:t>
            </a:r>
            <a:r>
              <a:rPr lang="en-US" dirty="0"/>
              <a:t> X-position of best cluster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Signal-to-noise </a:t>
            </a:r>
            <a:r>
              <a:rPr lang="en-US"/>
              <a:t>ratio ~0.15 </a:t>
            </a:r>
            <a:r>
              <a:rPr lang="en-US" dirty="0"/>
              <a:t>per layer after all timing and multiplicity cuts applied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At 20uA on LH2, approximately 800 raw </a:t>
            </a:r>
            <a:r>
              <a:rPr lang="en-US" dirty="0" err="1"/>
              <a:t>CDet</a:t>
            </a:r>
            <a:r>
              <a:rPr lang="en-US" dirty="0"/>
              <a:t> TDC hits per event; filtering implemented in </a:t>
            </a:r>
            <a:r>
              <a:rPr lang="en-US" dirty="0" err="1"/>
              <a:t>SBSCDet</a:t>
            </a:r>
            <a:r>
              <a:rPr lang="en-US" dirty="0"/>
              <a:t> class to use LE timing and Time-Over-Threshold cuts -&gt; reduction to ~30 TDC hits per event.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Working in progress -&gt; identify </a:t>
            </a:r>
            <a:r>
              <a:rPr lang="en-US" dirty="0" err="1"/>
              <a:t>CDet</a:t>
            </a:r>
            <a:r>
              <a:rPr lang="en-US" dirty="0"/>
              <a:t> “clusters” based on hits in adjacent paddles. </a:t>
            </a:r>
          </a:p>
        </p:txBody>
      </p:sp>
    </p:spTree>
    <p:extLst>
      <p:ext uri="{BB962C8B-B14F-4D97-AF65-F5344CB8AC3E}">
        <p14:creationId xmlns:p14="http://schemas.microsoft.com/office/powerpoint/2010/main" val="97976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208</Words>
  <Application>Microsoft Macintosh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CDet Update</vt:lpstr>
      <vt:lpstr>CDet Readout/Detector Performance</vt:lpstr>
      <vt:lpstr>ECal Position Correlations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Brash</dc:creator>
  <cp:lastModifiedBy>Edward Brash</cp:lastModifiedBy>
  <cp:revision>2</cp:revision>
  <dcterms:created xsi:type="dcterms:W3CDTF">2025-04-29T12:16:14Z</dcterms:created>
  <dcterms:modified xsi:type="dcterms:W3CDTF">2025-06-16T18:00:46Z</dcterms:modified>
</cp:coreProperties>
</file>