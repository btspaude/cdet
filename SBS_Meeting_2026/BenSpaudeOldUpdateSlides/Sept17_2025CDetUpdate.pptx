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58" r:id="rId4"/>
    <p:sldId id="263" r:id="rId5"/>
    <p:sldId id="266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29"/>
    <p:restoredTop sz="94753"/>
  </p:normalViewPr>
  <p:slideViewPr>
    <p:cSldViewPr snapToGrid="0">
      <p:cViewPr>
        <p:scale>
          <a:sx n="105" d="100"/>
          <a:sy n="105" d="100"/>
        </p:scale>
        <p:origin x="2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9D133-09C6-6D46-9028-5C1695EE4AE8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DEC03-07CB-8945-A6BD-D0FDA336A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22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ECA0B-8F5C-D54B-8FD7-185375D8A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9D5EA5-1DA7-BF21-C986-F8D2D82F0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87FB7-D5FB-53C2-1DB1-93A869F9A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DBC3-E8C6-424C-945E-7680F3E0234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EFE1-1CC4-9DF1-BB28-1A0E5E47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E6A71-5491-F74D-D884-4FC6C98D2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997D-F5E7-3B4A-8CFB-7004E8962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279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B6742-AFA8-D960-A40C-BA6D2763A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599CC-0CD2-BEF8-53CE-A179647D6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0D4EF-D284-C7C5-07E7-8E9C9D320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DBC3-E8C6-424C-945E-7680F3E0234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36B93-E131-4DF7-E6A6-AEE2426DA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243CB-5B53-D906-E342-871F04D38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997D-F5E7-3B4A-8CFB-7004E8962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5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1DFFE-BBF7-23EC-4DE8-ACD61E76E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992D1-1D4D-4465-F3CE-35CCA41E3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F4993-161D-A96E-8285-B2E32AF56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DBC3-E8C6-424C-945E-7680F3E0234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8F57C-86E8-4DAD-CA97-3740C8B8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5761A-32FB-8FA5-03F3-58D224408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997D-F5E7-3B4A-8CFB-7004E8962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567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FD29C-3897-2153-21E7-B9A17FF1C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98B78-BB78-2148-2392-BB8108F611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97FF3-064A-C189-6130-BF746D85A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89315-56E3-33C7-9268-A8FD52B20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DBC3-E8C6-424C-945E-7680F3E0234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9F63C-6904-F25D-4865-572685248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47959-9773-7380-EA9C-D5DF0AD8D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997D-F5E7-3B4A-8CFB-7004E8962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67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D0C55-88CA-7826-D16B-5A063D6B2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07AA0-2A39-4D2C-8A42-6E208BDCE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5D112-CFA3-9CEB-E231-A2C7F7FA2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20A786-92A3-0E34-C78B-0BB500EEB2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0B2AA6-875D-F176-9854-84C699CC17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2D6E88-4F6E-C9EA-92D9-B0C00A1C5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DBC3-E8C6-424C-945E-7680F3E0234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6A11ED-C6CC-1B06-50FA-895C8F105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1C438A-AAEE-9545-FA41-A351CF5BC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997D-F5E7-3B4A-8CFB-7004E8962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522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DD514-C8CB-872A-0795-A1C601F32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B50F48-823C-9D1B-EDC7-4756D0F43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DBC3-E8C6-424C-945E-7680F3E0234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1E3733-B675-03D8-0B43-9D00E2A19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1C1762-26F7-594F-CF29-5226D1520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997D-F5E7-3B4A-8CFB-7004E8962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478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8F49F8-6D5B-1AB9-F8B3-15772A247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DBC3-E8C6-424C-945E-7680F3E0234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359355-63A6-A237-EB70-E91F8210D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12917-7BD0-6456-1A1A-25935BAF1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997D-F5E7-3B4A-8CFB-7004E8962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95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9E786-0EE4-3414-1506-15F943453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29647-A231-B272-F11B-2FF62E7AB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9721D2-0722-A0A0-26B0-5FF9EB426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7219B8-76D4-32AA-FE01-2F9C85F52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DBC3-E8C6-424C-945E-7680F3E0234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F90ADB-6801-96EA-15BC-42655E7F2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DD70B-9854-4EA0-B62E-489F48F41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997D-F5E7-3B4A-8CFB-7004E8962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3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79B5-CA68-CE90-26F5-BE3269A0B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A4C965-576C-DD40-1B83-F49245E343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6FFD6-16E1-35DA-DCAF-82439A4DD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51A59-CE22-2318-3173-3C12C8B0C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DBC3-E8C6-424C-945E-7680F3E0234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A2BAB-5B88-7AF0-495C-76ABE0722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8A93A-1264-AC34-F157-E5AC2E6FA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997D-F5E7-3B4A-8CFB-7004E8962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80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5B656-34D3-D730-6F05-FA1B44D6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7E7EB-E4DC-35E1-8921-BF14394F2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DAFF4-CDB2-15E6-0A30-072391196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DBC3-E8C6-424C-945E-7680F3E0234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36F7A-83F0-344B-9102-6F553AFBF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169F6-2C23-1A89-4938-C5D59AB09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997D-F5E7-3B4A-8CFB-7004E8962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4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FCC749-CC0E-452C-C800-3F4104F372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79116B-EB22-149B-8369-9B297549DB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D6D6F-483F-2B4E-59F6-BFC5FD362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3DBC3-E8C6-424C-945E-7680F3E0234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33456-3535-01EE-9B70-DBB679C40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69DEA-1C98-70D0-36EC-27649537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4997D-F5E7-3B4A-8CFB-7004E8962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79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036873-BE9E-70CF-AFF6-D3C615229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2AC0E-A20F-F05D-01F1-5122B59BD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62E5D-0550-755D-5C55-961DD5036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3DBC3-E8C6-424C-945E-7680F3E0234A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4D8AD-6370-1EFA-235B-C073963B5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A216D-B770-FFE8-453D-18B0172C3F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44997D-F5E7-3B4A-8CFB-7004E8962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09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5E678-11A1-A2B8-12BB-20045CEAAD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Sept </a:t>
            </a:r>
            <a:r>
              <a:rPr lang="en-US"/>
              <a:t>17th Update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936AF-B679-4359-2011-80F3160429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Ben Spaude</a:t>
            </a:r>
          </a:p>
        </p:txBody>
      </p:sp>
    </p:spTree>
    <p:extLst>
      <p:ext uri="{BB962C8B-B14F-4D97-AF65-F5344CB8AC3E}">
        <p14:creationId xmlns:p14="http://schemas.microsoft.com/office/powerpoint/2010/main" val="3882863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4BD73-F9BF-79F2-D7A2-62E42B681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Setup &amp; </a:t>
            </a:r>
            <a:r>
              <a:rPr lang="en-US" dirty="0" err="1"/>
              <a:t>CDet</a:t>
            </a:r>
            <a:r>
              <a:rPr lang="en-US" dirty="0"/>
              <a:t> Role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503A7-3DCE-D462-D5D6-0C7CE05A2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990615"/>
            <a:ext cx="4363192" cy="3233263"/>
          </a:xfrm>
        </p:spPr>
        <p:txBody>
          <a:bodyPr>
            <a:normAutofit/>
          </a:bodyPr>
          <a:lstStyle/>
          <a:p>
            <a:r>
              <a:rPr lang="en-US" sz="2400" dirty="0"/>
              <a:t>Elastic ep scattering</a:t>
            </a:r>
          </a:p>
          <a:p>
            <a:r>
              <a:rPr lang="en-US" sz="2400" dirty="0"/>
              <a:t>Form factor ratio of proton at 11.1 GeV</a:t>
            </a:r>
            <a:r>
              <a:rPr lang="en-US" sz="2400" baseline="30000" dirty="0"/>
              <a:t>2</a:t>
            </a:r>
            <a:endParaRPr lang="en-US" sz="2400" dirty="0"/>
          </a:p>
          <a:p>
            <a:r>
              <a:rPr lang="en-US" sz="2400" dirty="0"/>
              <a:t>Supplemental tracking detector for e’</a:t>
            </a:r>
          </a:p>
          <a:p>
            <a:r>
              <a:rPr lang="en-US" sz="2400" dirty="0"/>
              <a:t>Allows for measurement of out-of-plane angle of scattered electrons</a:t>
            </a:r>
          </a:p>
          <a:p>
            <a:endParaRPr lang="en-US" sz="2400" dirty="0"/>
          </a:p>
        </p:txBody>
      </p:sp>
      <p:pic>
        <p:nvPicPr>
          <p:cNvPr id="6" name="Picture 5" descr="A diagram of a scientific experiment&#10;&#10;AI-generated content may be incorrect.">
            <a:extLst>
              <a:ext uri="{FF2B5EF4-FFF2-40B4-BE49-F238E27FC236}">
                <a16:creationId xmlns:a16="http://schemas.microsoft.com/office/drawing/2014/main" id="{C44FCFE2-CA73-C81A-0232-9FE9AB05C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295" y="1518096"/>
            <a:ext cx="6380747" cy="417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167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B8239-4577-B16B-E550-1EE2C1D2B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Detector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93D66-1177-7C81-869B-17DA2739A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88823" cy="4351338"/>
          </a:xfrm>
        </p:spPr>
        <p:txBody>
          <a:bodyPr/>
          <a:lstStyle/>
          <a:p>
            <a:r>
              <a:rPr lang="en-US" dirty="0"/>
              <a:t>Plastic Scintillating Detector (Vinyl toluene)</a:t>
            </a:r>
          </a:p>
          <a:p>
            <a:r>
              <a:rPr lang="en-US" dirty="0"/>
              <a:t>Broken into layers, modules, bars and paddles</a:t>
            </a:r>
          </a:p>
          <a:p>
            <a:r>
              <a:rPr lang="en-US" dirty="0" err="1"/>
              <a:t>maPMT</a:t>
            </a:r>
            <a:r>
              <a:rPr lang="en-US" dirty="0"/>
              <a:t> &amp; NINO Cards</a:t>
            </a:r>
          </a:p>
          <a:p>
            <a:r>
              <a:rPr lang="en-US" dirty="0"/>
              <a:t>Can utilize ADC or TDC signals</a:t>
            </a:r>
          </a:p>
          <a:p>
            <a:r>
              <a:rPr lang="en-US" dirty="0"/>
              <a:t>2352 total channels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diagram of a mirror and a mirror&#10;&#10;AI-generated content may be incorrect.">
            <a:extLst>
              <a:ext uri="{FF2B5EF4-FFF2-40B4-BE49-F238E27FC236}">
                <a16:creationId xmlns:a16="http://schemas.microsoft.com/office/drawing/2014/main" id="{453F70E3-AF98-854F-D21C-47F09AD9D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527" y="365125"/>
            <a:ext cx="3407167" cy="3308089"/>
          </a:xfrm>
          <a:prstGeom prst="rect">
            <a:avLst/>
          </a:prstGeom>
        </p:spPr>
      </p:pic>
      <p:pic>
        <p:nvPicPr>
          <p:cNvPr id="7" name="Picture 6" descr="A diagram of a mirror and a mirror&#10;&#10;AI-generated content may be incorrect.">
            <a:extLst>
              <a:ext uri="{FF2B5EF4-FFF2-40B4-BE49-F238E27FC236}">
                <a16:creationId xmlns:a16="http://schemas.microsoft.com/office/drawing/2014/main" id="{D45F2F3E-2EA3-8961-49FF-747F025AF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132" y="3786483"/>
            <a:ext cx="4785123" cy="2714161"/>
          </a:xfrm>
          <a:prstGeom prst="rect">
            <a:avLst/>
          </a:prstGeom>
        </p:spPr>
      </p:pic>
      <p:pic>
        <p:nvPicPr>
          <p:cNvPr id="9" name="Picture 8" descr="A diagram of a graph&#10;&#10;AI-generated content may be incorrect.">
            <a:extLst>
              <a:ext uri="{FF2B5EF4-FFF2-40B4-BE49-F238E27FC236}">
                <a16:creationId xmlns:a16="http://schemas.microsoft.com/office/drawing/2014/main" id="{0FEE7992-87FF-E649-F920-41193C27D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96" y="5602814"/>
            <a:ext cx="4420615" cy="897830"/>
          </a:xfrm>
          <a:prstGeom prst="rect">
            <a:avLst/>
          </a:prstGeom>
        </p:spPr>
      </p:pic>
      <p:pic>
        <p:nvPicPr>
          <p:cNvPr id="6" name="Picture 5" descr="A blue and grey metal structure&#10;&#10;AI-generated content may be incorrect.">
            <a:extLst>
              <a:ext uri="{FF2B5EF4-FFF2-40B4-BE49-F238E27FC236}">
                <a16:creationId xmlns:a16="http://schemas.microsoft.com/office/drawing/2014/main" id="{6421FCEC-F511-4474-3B2C-C3E92DD416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5198" y="365125"/>
            <a:ext cx="20574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143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7D4C6-89CD-B413-7059-779F7D010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DAQ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12A6D-2E23-9216-5A6C-17B56A9BA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68" y="1825625"/>
            <a:ext cx="10936706" cy="4351338"/>
          </a:xfrm>
        </p:spPr>
        <p:txBody>
          <a:bodyPr/>
          <a:lstStyle/>
          <a:p>
            <a:r>
              <a:rPr lang="en-US" dirty="0"/>
              <a:t>LVDS (detector)-&gt; ECL (repeater) -&gt; VETROC (</a:t>
            </a:r>
            <a:r>
              <a:rPr lang="en-US" dirty="0" err="1"/>
              <a:t>vme</a:t>
            </a:r>
            <a:r>
              <a:rPr lang="en-US" dirty="0"/>
              <a:t>)</a:t>
            </a:r>
          </a:p>
          <a:p>
            <a:r>
              <a:rPr lang="en-US" dirty="0" err="1"/>
              <a:t>vfTDC</a:t>
            </a:r>
            <a:r>
              <a:rPr lang="en-US" dirty="0"/>
              <a:t> firmware</a:t>
            </a:r>
          </a:p>
          <a:p>
            <a:r>
              <a:rPr lang="en-US" dirty="0"/>
              <a:t>Two triggers </a:t>
            </a:r>
          </a:p>
          <a:p>
            <a:pPr lvl="1"/>
            <a:r>
              <a:rPr lang="en-US" dirty="0"/>
              <a:t>Coincidence trigger between </a:t>
            </a:r>
            <a:r>
              <a:rPr lang="en-US" dirty="0" err="1"/>
              <a:t>ECal</a:t>
            </a:r>
            <a:r>
              <a:rPr lang="en-US" dirty="0"/>
              <a:t> and </a:t>
            </a:r>
            <a:r>
              <a:rPr lang="en-US" dirty="0" err="1"/>
              <a:t>HCal</a:t>
            </a:r>
            <a:r>
              <a:rPr lang="en-US" dirty="0"/>
              <a:t> timing </a:t>
            </a:r>
          </a:p>
          <a:p>
            <a:pPr lvl="1"/>
            <a:r>
              <a:rPr lang="en-US" dirty="0"/>
              <a:t>Coincidence trigger between </a:t>
            </a:r>
            <a:r>
              <a:rPr lang="en-US" dirty="0" err="1"/>
              <a:t>ECal</a:t>
            </a:r>
            <a:r>
              <a:rPr lang="en-US" dirty="0"/>
              <a:t> and </a:t>
            </a:r>
            <a:r>
              <a:rPr lang="en-US" dirty="0" err="1"/>
              <a:t>HCal</a:t>
            </a:r>
            <a:r>
              <a:rPr lang="en-US" dirty="0"/>
              <a:t> timing and position</a:t>
            </a:r>
          </a:p>
          <a:p>
            <a:r>
              <a:rPr lang="en-US" dirty="0"/>
              <a:t>LH2 Target </a:t>
            </a:r>
          </a:p>
        </p:txBody>
      </p:sp>
    </p:spTree>
    <p:extLst>
      <p:ext uri="{BB962C8B-B14F-4D97-AF65-F5344CB8AC3E}">
        <p14:creationId xmlns:p14="http://schemas.microsoft.com/office/powerpoint/2010/main" val="1279646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70452-D0CF-523F-658D-93448B7C3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Gain Matching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9A9827-8D59-F7A5-7F4C-F3C7B4F6D7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1773" y="1569129"/>
            <a:ext cx="7033923" cy="492374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8BB03C-1DC1-7C3B-A192-B9C9A4DCAE8F}"/>
              </a:ext>
            </a:extLst>
          </p:cNvPr>
          <p:cNvSpPr txBox="1"/>
          <p:nvPr/>
        </p:nvSpPr>
        <p:spPr>
          <a:xfrm>
            <a:off x="838200" y="2122787"/>
            <a:ext cx="3742944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Counts vs paddle (pixel)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1 side of module 1 for layer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Unused pixels in black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Limited ability to gain match by </a:t>
            </a:r>
            <a:r>
              <a:rPr lang="en-US" sz="2800" dirty="0" err="1"/>
              <a:t>maPMT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00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C3D64-3344-6B7E-2F88-D3A1100F2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185160" cy="1325563"/>
          </a:xfrm>
        </p:spPr>
        <p:txBody>
          <a:bodyPr/>
          <a:lstStyle/>
          <a:p>
            <a:pPr algn="ctr"/>
            <a:r>
              <a:rPr lang="en-US" dirty="0"/>
              <a:t>Timing Calibrations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B92A0-CC0B-3964-7CC1-8678C920B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11752" cy="4351338"/>
          </a:xfrm>
        </p:spPr>
        <p:txBody>
          <a:bodyPr/>
          <a:lstStyle/>
          <a:p>
            <a:r>
              <a:rPr lang="en-US" dirty="0"/>
              <a:t>Need to calibrate LE time in every paddle</a:t>
            </a:r>
          </a:p>
          <a:p>
            <a:r>
              <a:rPr lang="en-US" dirty="0" err="1"/>
              <a:t>Timewalk</a:t>
            </a:r>
            <a:r>
              <a:rPr lang="en-US" dirty="0"/>
              <a:t> correction</a:t>
            </a:r>
          </a:p>
          <a:p>
            <a:r>
              <a:rPr lang="en-US" dirty="0"/>
              <a:t>Time Resolution</a:t>
            </a:r>
          </a:p>
          <a:p>
            <a:r>
              <a:rPr lang="en-US" b="1" dirty="0"/>
              <a:t>Need good statistics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4FF95C7-8171-C4D2-F482-66F563B41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697" y="0"/>
            <a:ext cx="7434303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73176E-0029-F0DA-B25E-0EE119CBA148}"/>
              </a:ext>
            </a:extLst>
          </p:cNvPr>
          <p:cNvSpPr txBox="1"/>
          <p:nvPr/>
        </p:nvSpPr>
        <p:spPr>
          <a:xfrm>
            <a:off x="3233697" y="6169709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0&lt;LE&lt;60ns</a:t>
            </a:r>
          </a:p>
          <a:p>
            <a:r>
              <a:rPr lang="en-US" dirty="0"/>
              <a:t>18&lt;TOT&lt;45ns</a:t>
            </a:r>
          </a:p>
        </p:txBody>
      </p:sp>
    </p:spTree>
    <p:extLst>
      <p:ext uri="{BB962C8B-B14F-4D97-AF65-F5344CB8AC3E}">
        <p14:creationId xmlns:p14="http://schemas.microsoft.com/office/powerpoint/2010/main" val="2566919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48E6-4E43-8CAA-41FE-1562A333E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and Calibrations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26C2B-59C4-D1AA-E4E8-3139A6183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Efficiency calculations</a:t>
            </a:r>
          </a:p>
          <a:p>
            <a:r>
              <a:rPr lang="en-US" dirty="0"/>
              <a:t>Clustering algorithm </a:t>
            </a:r>
          </a:p>
          <a:p>
            <a:r>
              <a:rPr lang="en-US" dirty="0"/>
              <a:t>Region of interest</a:t>
            </a:r>
          </a:p>
          <a:p>
            <a:r>
              <a:rPr lang="en-US" dirty="0"/>
              <a:t>Position resolution*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500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3931</TotalTime>
  <Words>170</Words>
  <Application>Microsoft Macintosh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Sept 17th Update</vt:lpstr>
      <vt:lpstr>Experimental Setup &amp; CDet Role</vt:lpstr>
      <vt:lpstr>Coordinate Detector</vt:lpstr>
      <vt:lpstr>DAQ</vt:lpstr>
      <vt:lpstr>Gain Matching</vt:lpstr>
      <vt:lpstr>Timing Calibrations</vt:lpstr>
      <vt:lpstr>Performance and Calibrations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Spaude, Ben</dc:creator>
  <cp:lastModifiedBy>Spaude, Ben</cp:lastModifiedBy>
  <cp:revision>69</cp:revision>
  <dcterms:created xsi:type="dcterms:W3CDTF">2025-03-25T21:25:47Z</dcterms:created>
  <dcterms:modified xsi:type="dcterms:W3CDTF">2025-09-17T17:22:59Z</dcterms:modified>
</cp:coreProperties>
</file>